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93" r:id="rId3"/>
    <p:sldId id="258" r:id="rId4"/>
    <p:sldId id="257" r:id="rId5"/>
    <p:sldId id="294" r:id="rId6"/>
    <p:sldId id="259" r:id="rId7"/>
    <p:sldId id="260" r:id="rId8"/>
    <p:sldId id="261" r:id="rId9"/>
    <p:sldId id="262" r:id="rId10"/>
    <p:sldId id="263" r:id="rId11"/>
    <p:sldId id="275" r:id="rId12"/>
    <p:sldId id="278" r:id="rId13"/>
    <p:sldId id="289" r:id="rId14"/>
    <p:sldId id="290" r:id="rId15"/>
    <p:sldId id="282" r:id="rId16"/>
    <p:sldId id="266" r:id="rId17"/>
    <p:sldId id="283" r:id="rId18"/>
    <p:sldId id="285" r:id="rId19"/>
    <p:sldId id="276" r:id="rId20"/>
    <p:sldId id="305" r:id="rId21"/>
    <p:sldId id="295" r:id="rId22"/>
    <p:sldId id="297" r:id="rId23"/>
    <p:sldId id="298" r:id="rId24"/>
    <p:sldId id="299" r:id="rId25"/>
    <p:sldId id="300" r:id="rId26"/>
    <p:sldId id="303" r:id="rId27"/>
    <p:sldId id="304" r:id="rId28"/>
    <p:sldId id="301" r:id="rId29"/>
    <p:sldId id="273" r:id="rId30"/>
    <p:sldId id="29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94660"/>
  </p:normalViewPr>
  <p:slideViewPr>
    <p:cSldViewPr snapToGrid="0">
      <p:cViewPr varScale="1">
        <p:scale>
          <a:sx n="89" d="100"/>
          <a:sy n="89" d="100"/>
        </p:scale>
        <p:origin x="446"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8420E2-3AAA-4098-BAA3-349B85365695}" type="datetimeFigureOut">
              <a:rPr lang="en-US" smtClean="0"/>
              <a:pPr/>
              <a:t>4/26/2023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23C11A-02A4-40D6-9C04-918FEEFB0CAF}" type="slidenum">
              <a:rPr lang="en-US" smtClean="0"/>
              <a:pPr/>
              <a:t>‹#›</a:t>
            </a:fld>
            <a:endParaRPr lang="en-US"/>
          </a:p>
        </p:txBody>
      </p:sp>
    </p:spTree>
    <p:extLst>
      <p:ext uri="{BB962C8B-B14F-4D97-AF65-F5344CB8AC3E}">
        <p14:creationId xmlns:p14="http://schemas.microsoft.com/office/powerpoint/2010/main" val="3465613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B92F5DB-AD70-4EA5-A0CB-342DAACC2132}" type="datetime1">
              <a:rPr lang="en-US" smtClean="0"/>
              <a:pPr/>
              <a:t>4/26/2023</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891F06AE-6E0A-40F5-91BF-DC1A80B8427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183710-FD27-4477-88A8-A6C46BCA0A66}" type="datetime1">
              <a:rPr lang="en-US" smtClean="0"/>
              <a:pPr/>
              <a:t>4/26/2023</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891F06AE-6E0A-40F5-91BF-DC1A80B8427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C1BB15-0E12-4E42-89A6-C107901DF0AD}" type="datetime1">
              <a:rPr lang="en-US" smtClean="0"/>
              <a:pPr/>
              <a:t>4/26/2023</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891F06AE-6E0A-40F5-91BF-DC1A80B8427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2E95AC-2D28-46CA-B833-22CC73DD0136}" type="datetime1">
              <a:rPr lang="en-US" smtClean="0"/>
              <a:pPr/>
              <a:t>4/26/2023</a:t>
            </a:fld>
            <a:endParaRPr lang="en-US"/>
          </a:p>
        </p:txBody>
      </p:sp>
      <p:sp>
        <p:nvSpPr>
          <p:cNvPr id="6" name="Footer Placeholder 5"/>
          <p:cNvSpPr>
            <a:spLocks noGrp="1"/>
          </p:cNvSpPr>
          <p:nvPr>
            <p:ph type="ftr" sz="quarter" idx="11"/>
          </p:nvPr>
        </p:nvSpPr>
        <p:spPr/>
        <p:txBody>
          <a:bodyPr/>
          <a:lstStyle/>
          <a:p>
            <a:r>
              <a:rPr lang="en-US"/>
              <a:t>Department of CSE</a:t>
            </a:r>
          </a:p>
        </p:txBody>
      </p:sp>
      <p:sp>
        <p:nvSpPr>
          <p:cNvPr id="7" name="Slide Number Placeholder 6"/>
          <p:cNvSpPr>
            <a:spLocks noGrp="1"/>
          </p:cNvSpPr>
          <p:nvPr>
            <p:ph type="sldNum" sz="quarter" idx="12"/>
          </p:nvPr>
        </p:nvSpPr>
        <p:spPr/>
        <p:txBody>
          <a:bodyPr/>
          <a:lstStyle/>
          <a:p>
            <a:fld id="{891F06AE-6E0A-40F5-91BF-DC1A80B8427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8D86FB5-41CA-452E-8A8B-85D0C8565264}" type="datetime1">
              <a:rPr lang="en-US" smtClean="0"/>
              <a:pPr/>
              <a:t>4/26/2023</a:t>
            </a:fld>
            <a:endParaRPr lang="en-US"/>
          </a:p>
        </p:txBody>
      </p:sp>
      <p:sp>
        <p:nvSpPr>
          <p:cNvPr id="8" name="Footer Placeholder 7"/>
          <p:cNvSpPr>
            <a:spLocks noGrp="1"/>
          </p:cNvSpPr>
          <p:nvPr>
            <p:ph type="ftr" sz="quarter" idx="11"/>
          </p:nvPr>
        </p:nvSpPr>
        <p:spPr/>
        <p:txBody>
          <a:bodyPr/>
          <a:lstStyle/>
          <a:p>
            <a:r>
              <a:rPr lang="en-US"/>
              <a:t>Department of CSE</a:t>
            </a:r>
          </a:p>
        </p:txBody>
      </p:sp>
      <p:sp>
        <p:nvSpPr>
          <p:cNvPr id="9" name="Slide Number Placeholder 8"/>
          <p:cNvSpPr>
            <a:spLocks noGrp="1"/>
          </p:cNvSpPr>
          <p:nvPr>
            <p:ph type="sldNum" sz="quarter" idx="12"/>
          </p:nvPr>
        </p:nvSpPr>
        <p:spPr/>
        <p:txBody>
          <a:bodyPr/>
          <a:lstStyle/>
          <a:p>
            <a:fld id="{891F06AE-6E0A-40F5-91BF-DC1A80B8427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E75239-D458-46BB-B438-A71266373798}" type="datetime1">
              <a:rPr lang="en-US" smtClean="0"/>
              <a:pPr/>
              <a:t>4/26/2023</a:t>
            </a:fld>
            <a:endParaRPr lang="en-US"/>
          </a:p>
        </p:txBody>
      </p:sp>
      <p:sp>
        <p:nvSpPr>
          <p:cNvPr id="4" name="Footer Placeholder 3"/>
          <p:cNvSpPr>
            <a:spLocks noGrp="1"/>
          </p:cNvSpPr>
          <p:nvPr>
            <p:ph type="ftr" sz="quarter" idx="11"/>
          </p:nvPr>
        </p:nvSpPr>
        <p:spPr/>
        <p:txBody>
          <a:bodyPr/>
          <a:lstStyle/>
          <a:p>
            <a:r>
              <a:rPr lang="en-US"/>
              <a:t>Department of CSE</a:t>
            </a:r>
          </a:p>
        </p:txBody>
      </p:sp>
      <p:sp>
        <p:nvSpPr>
          <p:cNvPr id="5" name="Slide Number Placeholder 4"/>
          <p:cNvSpPr>
            <a:spLocks noGrp="1"/>
          </p:cNvSpPr>
          <p:nvPr>
            <p:ph type="sldNum" sz="quarter" idx="12"/>
          </p:nvPr>
        </p:nvSpPr>
        <p:spPr/>
        <p:txBody>
          <a:bodyPr/>
          <a:lstStyle/>
          <a:p>
            <a:fld id="{891F06AE-6E0A-40F5-91BF-DC1A80B8427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0361D1-B550-4F2E-9B95-50B9E9B41FFD}" type="datetime1">
              <a:rPr lang="en-US" smtClean="0"/>
              <a:pPr/>
              <a:t>4/26/2023</a:t>
            </a:fld>
            <a:endParaRPr lang="en-US"/>
          </a:p>
        </p:txBody>
      </p:sp>
      <p:sp>
        <p:nvSpPr>
          <p:cNvPr id="3" name="Footer Placeholder 2"/>
          <p:cNvSpPr>
            <a:spLocks noGrp="1"/>
          </p:cNvSpPr>
          <p:nvPr>
            <p:ph type="ftr" sz="quarter" idx="11"/>
          </p:nvPr>
        </p:nvSpPr>
        <p:spPr/>
        <p:txBody>
          <a:bodyPr/>
          <a:lstStyle/>
          <a:p>
            <a:r>
              <a:rPr lang="en-US"/>
              <a:t>Department of CSE</a:t>
            </a:r>
          </a:p>
        </p:txBody>
      </p:sp>
      <p:sp>
        <p:nvSpPr>
          <p:cNvPr id="4" name="Slide Number Placeholder 3"/>
          <p:cNvSpPr>
            <a:spLocks noGrp="1"/>
          </p:cNvSpPr>
          <p:nvPr>
            <p:ph type="sldNum" sz="quarter" idx="12"/>
          </p:nvPr>
        </p:nvSpPr>
        <p:spPr/>
        <p:txBody>
          <a:bodyPr/>
          <a:lstStyle/>
          <a:p>
            <a:fld id="{891F06AE-6E0A-40F5-91BF-DC1A80B8427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34F60A-9900-42AA-A811-12B47BADEAE4}" type="datetime1">
              <a:rPr lang="en-US" smtClean="0"/>
              <a:pPr/>
              <a:t>4/26/2023</a:t>
            </a:fld>
            <a:endParaRPr lang="en-US"/>
          </a:p>
        </p:txBody>
      </p:sp>
      <p:sp>
        <p:nvSpPr>
          <p:cNvPr id="6" name="Footer Placeholder 5"/>
          <p:cNvSpPr>
            <a:spLocks noGrp="1"/>
          </p:cNvSpPr>
          <p:nvPr>
            <p:ph type="ftr" sz="quarter" idx="11"/>
          </p:nvPr>
        </p:nvSpPr>
        <p:spPr/>
        <p:txBody>
          <a:bodyPr/>
          <a:lstStyle/>
          <a:p>
            <a:r>
              <a:rPr lang="en-US"/>
              <a:t>Department of CSE</a:t>
            </a:r>
          </a:p>
        </p:txBody>
      </p:sp>
      <p:sp>
        <p:nvSpPr>
          <p:cNvPr id="7" name="Slide Number Placeholder 6"/>
          <p:cNvSpPr>
            <a:spLocks noGrp="1"/>
          </p:cNvSpPr>
          <p:nvPr>
            <p:ph type="sldNum" sz="quarter" idx="12"/>
          </p:nvPr>
        </p:nvSpPr>
        <p:spPr/>
        <p:txBody>
          <a:bodyPr/>
          <a:lstStyle/>
          <a:p>
            <a:fld id="{891F06AE-6E0A-40F5-91BF-DC1A80B8427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DE5BF5-40EB-45B5-88DA-D087E2154F6B}" type="datetime1">
              <a:rPr lang="en-US" smtClean="0"/>
              <a:pPr/>
              <a:t>4/26/2023</a:t>
            </a:fld>
            <a:endParaRPr lang="en-US"/>
          </a:p>
        </p:txBody>
      </p:sp>
      <p:sp>
        <p:nvSpPr>
          <p:cNvPr id="6" name="Footer Placeholder 5"/>
          <p:cNvSpPr>
            <a:spLocks noGrp="1"/>
          </p:cNvSpPr>
          <p:nvPr>
            <p:ph type="ftr" sz="quarter" idx="11"/>
          </p:nvPr>
        </p:nvSpPr>
        <p:spPr/>
        <p:txBody>
          <a:bodyPr/>
          <a:lstStyle/>
          <a:p>
            <a:r>
              <a:rPr lang="en-US"/>
              <a:t>Department of CSE</a:t>
            </a:r>
          </a:p>
        </p:txBody>
      </p:sp>
      <p:sp>
        <p:nvSpPr>
          <p:cNvPr id="7" name="Slide Number Placeholder 6"/>
          <p:cNvSpPr>
            <a:spLocks noGrp="1"/>
          </p:cNvSpPr>
          <p:nvPr>
            <p:ph type="sldNum" sz="quarter" idx="12"/>
          </p:nvPr>
        </p:nvSpPr>
        <p:spPr/>
        <p:txBody>
          <a:bodyPr/>
          <a:lstStyle/>
          <a:p>
            <a:fld id="{891F06AE-6E0A-40F5-91BF-DC1A80B8427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6D161D-D008-44D6-A1B5-537108426506}" type="datetime1">
              <a:rPr lang="en-US" smtClean="0"/>
              <a:pPr/>
              <a:t>4/26/2023</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891F06AE-6E0A-40F5-91BF-DC1A80B8427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85CD0D-20CD-40E5-887C-324F7C23BEC8}" type="datetime1">
              <a:rPr lang="en-US" smtClean="0"/>
              <a:pPr/>
              <a:t>4/26/2023</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891F06AE-6E0A-40F5-91BF-DC1A80B8427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F8897-9829-44E4-98DC-5758B1576457}" type="datetime1">
              <a:rPr lang="en-US" smtClean="0"/>
              <a:pPr/>
              <a:t>4/26/2023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1F06AE-6E0A-40F5-91BF-DC1A80B8427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04670"/>
            <a:ext cx="9144000" cy="1705610"/>
          </a:xfrm>
        </p:spPr>
        <p:txBody>
          <a:bodyPr>
            <a:normAutofit/>
          </a:bodyPr>
          <a:lstStyle/>
          <a:p>
            <a:r>
              <a:rPr lang="en-US" sz="4000" dirty="0" smtClean="0">
                <a:latin typeface="Times New Roman" panose="02020603050405020304" pitchFamily="18" charset="0"/>
                <a:cs typeface="Times New Roman" panose="02020603050405020304" pitchFamily="18" charset="0"/>
              </a:rPr>
              <a:t>DETECTION OF ATTACKS USING RFA</a:t>
            </a:r>
            <a:br>
              <a:rPr lang="en-US" sz="4000" dirty="0" smtClean="0">
                <a:latin typeface="Times New Roman" panose="02020603050405020304" pitchFamily="18" charset="0"/>
                <a:cs typeface="Times New Roman" panose="02020603050405020304" pitchFamily="18" charset="0"/>
              </a:rPr>
            </a:br>
            <a:r>
              <a:rPr lang="en-US" sz="4000" dirty="0" smtClean="0">
                <a:latin typeface="Times New Roman" panose="02020603050405020304" pitchFamily="18" charset="0"/>
                <a:cs typeface="Times New Roman" panose="02020603050405020304" pitchFamily="18" charset="0"/>
              </a:rPr>
              <a:t> </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3602355"/>
            <a:ext cx="9144000" cy="2531745"/>
          </a:xfrm>
        </p:spPr>
        <p:txBody>
          <a:bodyPr>
            <a:noAutofit/>
          </a:bodyPr>
          <a:lstStyle/>
          <a:p>
            <a:r>
              <a:rPr lang="en-IN" altLang="en-US" sz="2000" dirty="0">
                <a:latin typeface="Times New Roman" panose="02020603050405020304" pitchFamily="18" charset="0"/>
                <a:cs typeface="Times New Roman" panose="02020603050405020304" pitchFamily="18" charset="0"/>
                <a:sym typeface="+mn-ea"/>
              </a:rPr>
              <a:t>          </a:t>
            </a:r>
            <a:r>
              <a:rPr lang="en-US" sz="2000" dirty="0">
                <a:latin typeface="Times New Roman" panose="02020603050405020304" pitchFamily="18" charset="0"/>
                <a:cs typeface="Times New Roman" panose="02020603050405020304" pitchFamily="18" charset="0"/>
                <a:sym typeface="+mn-ea"/>
              </a:rPr>
              <a:t>Project Supervisor: </a:t>
            </a:r>
            <a:r>
              <a:rPr lang="en-US" sz="2000" dirty="0"/>
              <a:t>Dr</a:t>
            </a:r>
            <a:r>
              <a:rPr lang="en-US" sz="2000" dirty="0" smtClean="0"/>
              <a:t>. E. Murali</a:t>
            </a:r>
            <a:r>
              <a:rPr lang="en-US" sz="2000" dirty="0"/>
              <a:t>., B.E., M.Tech., </a:t>
            </a:r>
            <a:r>
              <a:rPr lang="en-US" sz="2000" dirty="0" smtClean="0"/>
              <a:t>Ph.D </a:t>
            </a:r>
          </a:p>
          <a:p>
            <a:endParaRPr lang="en-US" sz="2000" dirty="0" smtClean="0"/>
          </a:p>
          <a:p>
            <a:r>
              <a:rPr lang="en-US" sz="2000" dirty="0" smtClean="0">
                <a:latin typeface="Times New Roman" panose="02020603050405020304" pitchFamily="18" charset="0"/>
                <a:cs typeface="Times New Roman" panose="02020603050405020304" pitchFamily="18" charset="0"/>
                <a:sym typeface="+mn-ea"/>
              </a:rPr>
              <a:t>Team </a:t>
            </a:r>
            <a:r>
              <a:rPr lang="en-US" sz="2000" dirty="0">
                <a:latin typeface="Times New Roman" panose="02020603050405020304" pitchFamily="18" charset="0"/>
                <a:cs typeface="Times New Roman" panose="02020603050405020304" pitchFamily="18" charset="0"/>
                <a:sym typeface="+mn-ea"/>
              </a:rPr>
              <a:t>Member :1. RAMANA CHANDRAKIRAN REDDY</a:t>
            </a:r>
            <a:endParaRPr lang="en-US" sz="2000" dirty="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sym typeface="+mn-ea"/>
              </a:rPr>
              <a:t>                 </a:t>
            </a:r>
            <a:r>
              <a:rPr lang="en-US" sz="2000" dirty="0">
                <a:latin typeface="Times New Roman" panose="02020603050405020304" pitchFamily="18" charset="0"/>
                <a:cs typeface="Times New Roman" panose="02020603050405020304" pitchFamily="18" charset="0"/>
                <a:sym typeface="+mn-ea"/>
              </a:rPr>
              <a:t>Reg.No : </a:t>
            </a:r>
            <a:r>
              <a:rPr lang="en-US" sz="2000" dirty="0" smtClean="0">
                <a:latin typeface="Times New Roman" panose="02020603050405020304" pitchFamily="18" charset="0"/>
                <a:cs typeface="Times New Roman" panose="02020603050405020304" pitchFamily="18" charset="0"/>
                <a:sym typeface="+mn-ea"/>
              </a:rPr>
              <a:t>39110835</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sym typeface="+mn-ea"/>
              </a:rPr>
              <a:t>                         </a:t>
            </a:r>
            <a:r>
              <a:rPr lang="en-IN" altLang="en-US" sz="2000" dirty="0">
                <a:latin typeface="Times New Roman" panose="02020603050405020304" pitchFamily="18" charset="0"/>
                <a:cs typeface="Times New Roman" panose="02020603050405020304" pitchFamily="18" charset="0"/>
                <a:sym typeface="+mn-ea"/>
              </a:rPr>
              <a:t>          </a:t>
            </a:r>
            <a:r>
              <a:rPr lang="en-US" sz="2000" dirty="0">
                <a:latin typeface="Times New Roman" panose="02020603050405020304" pitchFamily="18" charset="0"/>
                <a:cs typeface="Times New Roman" panose="02020603050405020304" pitchFamily="18" charset="0"/>
                <a:sym typeface="+mn-ea"/>
              </a:rPr>
              <a:t>2. </a:t>
            </a:r>
            <a:r>
              <a:rPr lang="en-US" sz="2000" dirty="0" smtClean="0">
                <a:latin typeface="Times New Roman" panose="02020603050405020304" pitchFamily="18" charset="0"/>
                <a:cs typeface="Times New Roman" panose="02020603050405020304" pitchFamily="18" charset="0"/>
                <a:sym typeface="+mn-ea"/>
              </a:rPr>
              <a:t>RAMAKURTHI PRAVEEN KUMAR</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sym typeface="+mn-ea"/>
              </a:rPr>
              <a:t>                  Reg.No : </a:t>
            </a:r>
            <a:r>
              <a:rPr lang="en-US" sz="2000" dirty="0" smtClean="0">
                <a:latin typeface="Times New Roman" panose="02020603050405020304" pitchFamily="18" charset="0"/>
                <a:cs typeface="Times New Roman" panose="02020603050405020304" pitchFamily="18" charset="0"/>
                <a:sym typeface="+mn-ea"/>
              </a:rPr>
              <a:t>39110834</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14" name="Picture 13" descr="new letter head July30_2020.png"/>
          <p:cNvPicPr/>
          <p:nvPr/>
        </p:nvPicPr>
        <p:blipFill>
          <a:blip r:embed="rId2" cstate="print"/>
          <a:stretch>
            <a:fillRect/>
          </a:stretch>
        </p:blipFill>
        <p:spPr>
          <a:xfrm>
            <a:off x="1562100" y="51955"/>
            <a:ext cx="8686800" cy="1752599"/>
          </a:xfrm>
          <a:prstGeom prst="rect">
            <a:avLst/>
          </a:prstGeom>
        </p:spPr>
      </p:pic>
      <p:sp>
        <p:nvSpPr>
          <p:cNvPr id="5" name="Date Placeholder 4"/>
          <p:cNvSpPr>
            <a:spLocks noGrp="1"/>
          </p:cNvSpPr>
          <p:nvPr>
            <p:ph type="dt" sz="half" idx="10"/>
          </p:nvPr>
        </p:nvSpPr>
        <p:spPr/>
        <p:txBody>
          <a:bodyPr/>
          <a:lstStyle/>
          <a:p>
            <a:fld id="{4E549714-FD7C-4578-A7AE-AC444583F319}" type="datetime1">
              <a:rPr lang="en-US" smtClean="0"/>
              <a:pPr/>
              <a:t>4/26/2023</a:t>
            </a:fld>
            <a:endParaRPr lang="en-US"/>
          </a:p>
        </p:txBody>
      </p:sp>
      <p:sp>
        <p:nvSpPr>
          <p:cNvPr id="6" name="Slide Number Placeholder 5"/>
          <p:cNvSpPr>
            <a:spLocks noGrp="1"/>
          </p:cNvSpPr>
          <p:nvPr>
            <p:ph type="sldNum" sz="quarter" idx="12"/>
          </p:nvPr>
        </p:nvSpPr>
        <p:spPr/>
        <p:txBody>
          <a:bodyPr/>
          <a:lstStyle/>
          <a:p>
            <a:fld id="{891F06AE-6E0A-40F5-91BF-DC1A80B84273}" type="slidenum">
              <a:rPr lang="en-US" smtClean="0"/>
              <a:pPr/>
              <a:t>1</a:t>
            </a:fld>
            <a:endParaRPr lang="en-US"/>
          </a:p>
        </p:txBody>
      </p:sp>
      <p:sp>
        <p:nvSpPr>
          <p:cNvPr id="7" name="Footer Placeholder 6"/>
          <p:cNvSpPr>
            <a:spLocks noGrp="1"/>
          </p:cNvSpPr>
          <p:nvPr>
            <p:ph type="ftr" sz="quarter" idx="11"/>
          </p:nvPr>
        </p:nvSpPr>
        <p:spPr/>
        <p:txBody>
          <a:bodyPr/>
          <a:lstStyle/>
          <a:p>
            <a:r>
              <a:rPr lang="en-US"/>
              <a:t>Department of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PRESENTATION OUTLINE</a:t>
            </a:r>
          </a:p>
        </p:txBody>
      </p:sp>
      <p:sp>
        <p:nvSpPr>
          <p:cNvPr id="3" name="Content Placeholder 2"/>
          <p:cNvSpPr>
            <a:spLocks noGrp="1"/>
          </p:cNvSpPr>
          <p:nvPr>
            <p:ph idx="1"/>
          </p:nvPr>
        </p:nvSpPr>
        <p:spPr>
          <a:xfrm>
            <a:off x="838200" y="1544128"/>
            <a:ext cx="10515600" cy="4632835"/>
          </a:xfrm>
        </p:spPr>
        <p:txBody>
          <a:bodyPr>
            <a:normAutofit fontScale="92500" lnSpcReduction="20000"/>
          </a:bodyPr>
          <a:lstStyle/>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Objectives</a:t>
            </a:r>
          </a:p>
          <a:p>
            <a:r>
              <a:rPr lang="en-US" dirty="0">
                <a:latin typeface="Times New Roman" pitchFamily="18" charset="0"/>
                <a:cs typeface="Times New Roman" pitchFamily="18" charset="0"/>
              </a:rPr>
              <a:t>Existing System</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Proposed System</a:t>
            </a:r>
          </a:p>
          <a:p>
            <a:r>
              <a:rPr lang="en-US" dirty="0">
                <a:latin typeface="Times New Roman" pitchFamily="18" charset="0"/>
                <a:cs typeface="Times New Roman" pitchFamily="18" charset="0"/>
              </a:rPr>
              <a:t>Literature survey</a:t>
            </a:r>
          </a:p>
          <a:p>
            <a:r>
              <a:rPr lang="en-US" dirty="0">
                <a:latin typeface="Times New Roman" pitchFamily="18" charset="0"/>
                <a:cs typeface="Times New Roman" pitchFamily="18" charset="0"/>
              </a:rPr>
              <a:t>Flow Diagram</a:t>
            </a:r>
          </a:p>
          <a:p>
            <a:r>
              <a:rPr lang="en-US" dirty="0">
                <a:latin typeface="Times New Roman" pitchFamily="18" charset="0"/>
                <a:cs typeface="Times New Roman" pitchFamily="18" charset="0"/>
              </a:rPr>
              <a:t>System Architecture</a:t>
            </a:r>
          </a:p>
          <a:p>
            <a:r>
              <a:rPr lang="en-US" dirty="0">
                <a:latin typeface="Times New Roman" pitchFamily="18" charset="0"/>
                <a:cs typeface="Times New Roman" pitchFamily="18" charset="0"/>
              </a:rPr>
              <a:t>Module Implementation</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2183710-FD27-4477-88A8-A6C46BCA0A66}" type="datetime1">
              <a:rPr lang="en-US" smtClean="0"/>
              <a:pPr/>
              <a:t>4/26/2023</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891F06AE-6E0A-40F5-91BF-DC1A80B84273}"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a:t>
            </a:r>
            <a:r>
              <a:rPr lang="en-IN" altLang="en-US" dirty="0" smtClean="0">
                <a:latin typeface="Times New Roman" panose="02020603050405020304" pitchFamily="18" charset="0"/>
                <a:cs typeface="Times New Roman" panose="02020603050405020304" pitchFamily="18" charset="0"/>
              </a:rPr>
              <a:t>NTRODUCTION</a:t>
            </a:r>
            <a:endParaRPr lang="en-IN" alt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Approaches for intrusion detection can be broadly divided into two types: misuse detection and anomaly detection. In misuse detection system, all known types of attacks (intrusions) can be detected by looking into the predefined intrusion patterns in system audit traffic. </a:t>
            </a:r>
          </a:p>
          <a:p>
            <a:r>
              <a:rPr lang="en-US" sz="2400" dirty="0">
                <a:latin typeface="Times New Roman" panose="02020603050405020304" pitchFamily="18" charset="0"/>
                <a:cs typeface="Times New Roman" panose="02020603050405020304" pitchFamily="18" charset="0"/>
              </a:rPr>
              <a:t>In case of anomaly detection, the system first learns a normal activity profile and then flags all system events that do not match with the already established profile.</a:t>
            </a:r>
          </a:p>
          <a:p>
            <a:r>
              <a:rPr lang="en-US" sz="2400" dirty="0">
                <a:latin typeface="Times New Roman" panose="02020603050405020304" pitchFamily="18" charset="0"/>
                <a:cs typeface="Times New Roman" panose="02020603050405020304" pitchFamily="18" charset="0"/>
              </a:rPr>
              <a:t>The main advantage of the misuse detection is its capability for high detection rate with a difficulty in finding the new or unforeseen attacks.</a:t>
            </a:r>
          </a:p>
          <a:p>
            <a:r>
              <a:rPr lang="en-US" sz="2400" dirty="0">
                <a:latin typeface="Times New Roman" panose="02020603050405020304" pitchFamily="18" charset="0"/>
                <a:cs typeface="Times New Roman" panose="02020603050405020304" pitchFamily="18" charset="0"/>
              </a:rPr>
              <a:t>The advantage of anomaly detection lies in the ability to identify the novel (or unforeseen) attacks at the expense of high false positive rate  </a:t>
            </a:r>
          </a:p>
        </p:txBody>
      </p:sp>
      <p:sp>
        <p:nvSpPr>
          <p:cNvPr id="4" name="Date Placeholder 3"/>
          <p:cNvSpPr>
            <a:spLocks noGrp="1"/>
          </p:cNvSpPr>
          <p:nvPr>
            <p:ph type="dt" sz="half" idx="10"/>
          </p:nvPr>
        </p:nvSpPr>
        <p:spPr/>
        <p:txBody>
          <a:bodyPr/>
          <a:lstStyle/>
          <a:p>
            <a:fld id="{6119C651-0548-403E-B94A-4D36B45AF498}" type="datetime1">
              <a:rPr lang="en-US" smtClean="0"/>
              <a:pPr/>
              <a:t>4/26/2023</a:t>
            </a:fld>
            <a:endParaRPr lang="en-US"/>
          </a:p>
        </p:txBody>
      </p:sp>
      <p:sp>
        <p:nvSpPr>
          <p:cNvPr id="5" name="Slide Number Placeholder 4"/>
          <p:cNvSpPr>
            <a:spLocks noGrp="1"/>
          </p:cNvSpPr>
          <p:nvPr>
            <p:ph type="sldNum" sz="quarter" idx="12"/>
          </p:nvPr>
        </p:nvSpPr>
        <p:spPr/>
        <p:txBody>
          <a:bodyPr/>
          <a:lstStyle/>
          <a:p>
            <a:fld id="{891F06AE-6E0A-40F5-91BF-DC1A80B84273}" type="slidenum">
              <a:rPr lang="en-US" smtClean="0"/>
              <a:pPr/>
              <a:t>3</a:t>
            </a:fld>
            <a:endParaRPr lang="en-US"/>
          </a:p>
        </p:txBody>
      </p:sp>
      <p:sp>
        <p:nvSpPr>
          <p:cNvPr id="6" name="Footer Placeholder 5"/>
          <p:cNvSpPr>
            <a:spLocks noGrp="1"/>
          </p:cNvSpPr>
          <p:nvPr>
            <p:ph type="ftr" sz="quarter" idx="11"/>
          </p:nvPr>
        </p:nvSpPr>
        <p:spPr/>
        <p:txBody>
          <a:bodyPr/>
          <a:lstStyle/>
          <a:p>
            <a:r>
              <a:rPr lang="en-US"/>
              <a:t>Department of CSE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anose="02020603050405020304" pitchFamily="18" charset="0"/>
                <a:cs typeface="Times New Roman" panose="02020603050405020304" pitchFamily="18" charset="0"/>
              </a:rPr>
              <a:t>ABSTRACT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838200" y="1570990"/>
            <a:ext cx="10515600" cy="4606290"/>
          </a:xfrm>
        </p:spPr>
        <p:txBody>
          <a:bodyPr>
            <a:normAutofit fontScale="77500" lnSpcReduction="20000"/>
          </a:bodyPr>
          <a:lstStyle/>
          <a:p>
            <a:pPr algn="just"/>
            <a:r>
              <a:rPr lang="en-US" sz="3100" dirty="0">
                <a:latin typeface="Times New Roman" panose="02020603050405020304" pitchFamily="18" charset="0"/>
                <a:cs typeface="Times New Roman" panose="02020603050405020304" pitchFamily="18" charset="0"/>
              </a:rPr>
              <a:t>Intrusion detection systems (IDSs) are currently drawing a great amount of interest as a key part of system defence. IDSs collect network traffic information from some point on the network or computer system and then use this information to secure the network.</a:t>
            </a:r>
          </a:p>
          <a:p>
            <a:pPr algn="just"/>
            <a:r>
              <a:rPr lang="en-US" sz="3100" dirty="0" smtClean="0">
                <a:latin typeface="Times New Roman" panose="02020603050405020304" pitchFamily="18" charset="0"/>
                <a:cs typeface="Times New Roman" panose="02020603050405020304" pitchFamily="18" charset="0"/>
              </a:rPr>
              <a:t>An </a:t>
            </a:r>
            <a:r>
              <a:rPr lang="en-US" sz="3100" dirty="0">
                <a:latin typeface="Times New Roman" panose="02020603050405020304" pitchFamily="18" charset="0"/>
                <a:cs typeface="Times New Roman" panose="02020603050405020304" pitchFamily="18" charset="0"/>
              </a:rPr>
              <a:t>analyst must review all the data that large and wide to find the sequence of intrusion on the network connection. Therefore, it needs a way that can detect network intrusion to reflect the current network traffics.</a:t>
            </a:r>
          </a:p>
          <a:p>
            <a:pPr algn="just"/>
            <a:r>
              <a:rPr lang="en-US" sz="3100" dirty="0">
                <a:latin typeface="Times New Roman" panose="02020603050405020304" pitchFamily="18" charset="0"/>
                <a:cs typeface="Times New Roman" panose="02020603050405020304" pitchFamily="18" charset="0"/>
              </a:rPr>
              <a:t>In this study, a novel method to find intrusion characteristic for IDS using genetic algorithm machine learning of data mining technique was proposed. Method used to generate of rules is classification by </a:t>
            </a:r>
            <a:r>
              <a:rPr lang="en-US" sz="3100" dirty="0" smtClean="0">
                <a:latin typeface="Times New Roman" panose="02020603050405020304" pitchFamily="18" charset="0"/>
                <a:cs typeface="Times New Roman" panose="02020603050405020304" pitchFamily="18" charset="0"/>
              </a:rPr>
              <a:t>genetic  </a:t>
            </a:r>
            <a:r>
              <a:rPr lang="en-US" sz="3100" dirty="0">
                <a:latin typeface="Times New Roman" panose="02020603050405020304" pitchFamily="18" charset="0"/>
                <a:cs typeface="Times New Roman" panose="02020603050405020304" pitchFamily="18" charset="0"/>
              </a:rPr>
              <a:t>algorithm of decision tree.</a:t>
            </a:r>
          </a:p>
          <a:p>
            <a:pPr algn="just"/>
            <a:r>
              <a:rPr lang="en-US" sz="3100" dirty="0">
                <a:latin typeface="Times New Roman" panose="02020603050405020304" pitchFamily="18" charset="0"/>
                <a:cs typeface="Times New Roman" panose="02020603050405020304" pitchFamily="18" charset="0"/>
              </a:rPr>
              <a:t>These rules can determine of intrusion characteristics then to implement in the genetic algorithm as prevention. </a:t>
            </a:r>
          </a:p>
          <a:p>
            <a:pPr algn="just"/>
            <a:r>
              <a:rPr lang="en-US" sz="3100" dirty="0" smtClean="0">
                <a:latin typeface="Times New Roman" panose="02020603050405020304" pitchFamily="18" charset="0"/>
                <a:cs typeface="Times New Roman" panose="02020603050405020304" pitchFamily="18" charset="0"/>
              </a:rPr>
              <a:t>so that besides detecting the existence of intrusion also can execute by doing deny of intrusion as prevention. </a:t>
            </a:r>
          </a:p>
          <a:p>
            <a:pPr algn="just"/>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C85FF12-FF0F-43AB-AC31-EE09A7F5701A}" type="datetime1">
              <a:rPr lang="en-US" smtClean="0"/>
              <a:pPr/>
              <a:t>4/26/2023</a:t>
            </a:fld>
            <a:endParaRPr lang="en-US"/>
          </a:p>
        </p:txBody>
      </p:sp>
      <p:sp>
        <p:nvSpPr>
          <p:cNvPr id="5" name="Slide Number Placeholder 4"/>
          <p:cNvSpPr>
            <a:spLocks noGrp="1"/>
          </p:cNvSpPr>
          <p:nvPr>
            <p:ph type="sldNum" sz="quarter" idx="12"/>
          </p:nvPr>
        </p:nvSpPr>
        <p:spPr/>
        <p:txBody>
          <a:bodyPr/>
          <a:lstStyle/>
          <a:p>
            <a:fld id="{891F06AE-6E0A-40F5-91BF-DC1A80B84273}" type="slidenum">
              <a:rPr lang="en-US" smtClean="0"/>
              <a:pPr/>
              <a:t>4</a:t>
            </a:fld>
            <a:endParaRPr lang="en-US"/>
          </a:p>
        </p:txBody>
      </p:sp>
      <p:sp>
        <p:nvSpPr>
          <p:cNvPr id="6" name="Footer Placeholder 5"/>
          <p:cNvSpPr>
            <a:spLocks noGrp="1"/>
          </p:cNvSpPr>
          <p:nvPr>
            <p:ph type="ftr" sz="quarter" idx="11"/>
          </p:nvPr>
        </p:nvSpPr>
        <p:spPr/>
        <p:txBody>
          <a:bodyPr/>
          <a:lstStyle/>
          <a:p>
            <a:r>
              <a:rPr lang="en-US"/>
              <a:t>Department of CSE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OBJECTIVE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400" dirty="0">
                <a:latin typeface="Times New Roman" pitchFamily="18" charset="0"/>
                <a:cs typeface="Times New Roman" pitchFamily="18" charset="0"/>
              </a:rPr>
              <a:t>The primary purposes for an IDS deployment are to reduce risk, identify error, optimize network use, provide insight into threat levels, and change user behavior. Thus, an IDS provides more than just detection of intrusion.</a:t>
            </a:r>
          </a:p>
          <a:p>
            <a:pPr algn="just"/>
            <a:r>
              <a:rPr lang="en-US" sz="2400" dirty="0">
                <a:latin typeface="Times New Roman" pitchFamily="18" charset="0"/>
                <a:cs typeface="Times New Roman" pitchFamily="18" charset="0"/>
              </a:rPr>
              <a:t>Genetic Algorithm (GA) developed specifically for problems with multiple objectives. They differ primarily from traditional GA by using specialized fitness functions and introducing methods to promote solution diversity.</a:t>
            </a:r>
          </a:p>
          <a:p>
            <a:pPr algn="just"/>
            <a:r>
              <a:rPr lang="en-US" sz="2400" dirty="0">
                <a:latin typeface="Times New Roman" pitchFamily="18" charset="0"/>
                <a:cs typeface="Times New Roman" pitchFamily="18" charset="0"/>
              </a:rPr>
              <a:t>The goal of this algorithm is to create a model that predicts the value of a target variable, for which the decision tree uses the tree representation to solve the problem in which the leaf node corresponds to a class label and attributes are represented on the internal node of the tree</a:t>
            </a:r>
          </a:p>
          <a:p>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2183710-FD27-4477-88A8-A6C46BCA0A66}" type="datetime1">
              <a:rPr lang="en-US" smtClean="0"/>
              <a:pPr/>
              <a:t>4/26/2023</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891F06AE-6E0A-40F5-91BF-DC1A80B84273}"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EXISTING </a:t>
            </a:r>
            <a:r>
              <a:rPr lang="en-IN" dirty="0" smtClean="0">
                <a:latin typeface="Times New Roman" panose="02020603050405020304" pitchFamily="18" charset="0"/>
                <a:cs typeface="Times New Roman" panose="02020603050405020304" pitchFamily="18" charset="0"/>
              </a:rPr>
              <a:t>SYSTEM</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p:txBody>
          <a:bodyPr/>
          <a:lstStyle/>
          <a:p>
            <a:pPr lvl="0" algn="l"/>
            <a:r>
              <a:rPr lang="en-US" sz="2400" dirty="0">
                <a:latin typeface="Times New Roman" panose="02020603050405020304" pitchFamily="18" charset="0"/>
                <a:cs typeface="Times New Roman" panose="02020603050405020304" pitchFamily="18" charset="0"/>
              </a:rPr>
              <a:t>Today network has become an essential part of public infrastructures with the inception of public and private cloud computing. </a:t>
            </a:r>
          </a:p>
          <a:p>
            <a:pPr lvl="0" algn="l"/>
            <a:r>
              <a:rPr lang="en-US" sz="2400" dirty="0">
                <a:latin typeface="Times New Roman" panose="02020603050405020304" pitchFamily="18" charset="0"/>
                <a:cs typeface="Times New Roman" panose="02020603050405020304" pitchFamily="18" charset="0"/>
              </a:rPr>
              <a:t>The traditional networking approach has become too complex.</a:t>
            </a:r>
          </a:p>
          <a:p>
            <a:pPr lvl="0" algn="l"/>
            <a:r>
              <a:rPr lang="en-US" sz="2400" dirty="0">
                <a:latin typeface="Times New Roman" panose="02020603050405020304" pitchFamily="18" charset="0"/>
                <a:cs typeface="Times New Roman" panose="02020603050405020304" pitchFamily="18" charset="0"/>
              </a:rPr>
              <a:t>This complexity has resulted in a barrier for creating new and innovative services within a single data center, difficulties in interconnecting data centers, interconnection within enterprises, and bigger barrier in the continued growth of the Internet in general.</a:t>
            </a:r>
          </a:p>
          <a:p>
            <a:pPr marL="0" indent="0" algn="l">
              <a:buNone/>
            </a:pPr>
            <a:r>
              <a:rPr lang="en-US" sz="2400" dirty="0">
                <a:latin typeface="Times New Roman" panose="02020603050405020304" pitchFamily="18" charset="0"/>
                <a:cs typeface="Times New Roman" panose="02020603050405020304" pitchFamily="18" charset="0"/>
              </a:rPr>
              <a:t> </a:t>
            </a:r>
          </a:p>
          <a:p>
            <a:pPr marL="0" indent="0" algn="l">
              <a:buNone/>
            </a:pP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4AB7EBE-7990-4050-8ABA-A0CC3BF7DA85}" type="datetime1">
              <a:rPr lang="en-US" smtClean="0"/>
              <a:pPr/>
              <a:t>4/26/2023</a:t>
            </a:fld>
            <a:endParaRPr lang="en-US"/>
          </a:p>
        </p:txBody>
      </p:sp>
      <p:sp>
        <p:nvSpPr>
          <p:cNvPr id="5" name="Slide Number Placeholder 4"/>
          <p:cNvSpPr>
            <a:spLocks noGrp="1"/>
          </p:cNvSpPr>
          <p:nvPr>
            <p:ph type="sldNum" sz="quarter" idx="12"/>
          </p:nvPr>
        </p:nvSpPr>
        <p:spPr/>
        <p:txBody>
          <a:bodyPr/>
          <a:lstStyle/>
          <a:p>
            <a:fld id="{891F06AE-6E0A-40F5-91BF-DC1A80B84273}" type="slidenum">
              <a:rPr lang="en-US" smtClean="0"/>
              <a:pPr/>
              <a:t>6</a:t>
            </a:fld>
            <a:endParaRPr lang="en-US"/>
          </a:p>
        </p:txBody>
      </p:sp>
      <p:sp>
        <p:nvSpPr>
          <p:cNvPr id="6" name="Footer Placeholder 5"/>
          <p:cNvSpPr>
            <a:spLocks noGrp="1"/>
          </p:cNvSpPr>
          <p:nvPr>
            <p:ph type="ftr" sz="quarter" idx="11"/>
          </p:nvPr>
        </p:nvSpPr>
        <p:spPr/>
        <p:txBody>
          <a:bodyPr/>
          <a:lstStyle/>
          <a:p>
            <a:r>
              <a:rPr lang="en-US"/>
              <a:t>Department of CSE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endParaRPr lang="en-US" dirty="0"/>
          </a:p>
        </p:txBody>
      </p:sp>
      <p:sp>
        <p:nvSpPr>
          <p:cNvPr id="3" name="Content Placeholder 2"/>
          <p:cNvSpPr>
            <a:spLocks noGrp="1"/>
          </p:cNvSpPr>
          <p:nvPr>
            <p:ph idx="1"/>
          </p:nvPr>
        </p:nvSpPr>
        <p:spPr/>
        <p:txBody>
          <a:bodyPr/>
          <a:lstStyle/>
          <a:p>
            <a:r>
              <a:rPr lang="en-US" sz="2400" dirty="0" smtClean="0">
                <a:latin typeface="Times New Roman" panose="02020603050405020304" pitchFamily="18" charset="0"/>
                <a:cs typeface="Times New Roman" panose="02020603050405020304" pitchFamily="18" charset="0"/>
              </a:rPr>
              <a:t>To </a:t>
            </a:r>
            <a:r>
              <a:rPr lang="en-US" sz="2400" dirty="0">
                <a:latin typeface="Times New Roman" panose="02020603050405020304" pitchFamily="18" charset="0"/>
                <a:cs typeface="Times New Roman" panose="02020603050405020304" pitchFamily="18" charset="0"/>
              </a:rPr>
              <a:t>distinguish the activities of the network traffic that the intrusion and normal is very difficult and to need much time consuming.</a:t>
            </a:r>
          </a:p>
          <a:p>
            <a:r>
              <a:rPr lang="en-US" sz="2400" dirty="0">
                <a:latin typeface="Times New Roman" panose="02020603050405020304" pitchFamily="18" charset="0"/>
                <a:cs typeface="Times New Roman" panose="02020603050405020304" pitchFamily="18" charset="0"/>
              </a:rPr>
              <a:t> An analyst must review all the data that large and wide to find the sequence of intrusion on the network connection.</a:t>
            </a:r>
          </a:p>
          <a:p>
            <a:r>
              <a:rPr lang="en-US" sz="2400" dirty="0">
                <a:latin typeface="Times New Roman" panose="02020603050405020304" pitchFamily="18" charset="0"/>
                <a:cs typeface="Times New Roman" panose="02020603050405020304" pitchFamily="18" charset="0"/>
              </a:rPr>
              <a:t>it needs a way that can detect network intrusion to reflect the current network traffics. </a:t>
            </a:r>
          </a:p>
          <a:p>
            <a:r>
              <a:rPr lang="en-US" sz="2400" dirty="0">
                <a:latin typeface="Times New Roman" panose="02020603050405020304" pitchFamily="18" charset="0"/>
                <a:cs typeface="Times New Roman" panose="02020603050405020304" pitchFamily="18" charset="0"/>
              </a:rPr>
              <a:t>Combination of IDS and firewall so-called the IPS, so that besides detecting the existence of intrusion also can execute by doing deny of intrusion as prevention. </a:t>
            </a:r>
          </a:p>
        </p:txBody>
      </p:sp>
      <p:sp>
        <p:nvSpPr>
          <p:cNvPr id="4" name="Date Placeholder 3"/>
          <p:cNvSpPr>
            <a:spLocks noGrp="1"/>
          </p:cNvSpPr>
          <p:nvPr>
            <p:ph type="dt" sz="half" idx="10"/>
          </p:nvPr>
        </p:nvSpPr>
        <p:spPr/>
        <p:txBody>
          <a:bodyPr/>
          <a:lstStyle/>
          <a:p>
            <a:fld id="{746189A3-530D-4E43-9992-32E659E4BDBD}" type="datetime1">
              <a:rPr lang="en-US" smtClean="0"/>
              <a:pPr/>
              <a:t>4/26/2023</a:t>
            </a:fld>
            <a:endParaRPr lang="en-US"/>
          </a:p>
        </p:txBody>
      </p:sp>
      <p:sp>
        <p:nvSpPr>
          <p:cNvPr id="5" name="Slide Number Placeholder 4"/>
          <p:cNvSpPr>
            <a:spLocks noGrp="1"/>
          </p:cNvSpPr>
          <p:nvPr>
            <p:ph type="sldNum" sz="quarter" idx="12"/>
          </p:nvPr>
        </p:nvSpPr>
        <p:spPr/>
        <p:txBody>
          <a:bodyPr/>
          <a:lstStyle/>
          <a:p>
            <a:fld id="{891F06AE-6E0A-40F5-91BF-DC1A80B84273}" type="slidenum">
              <a:rPr lang="en-US" smtClean="0"/>
              <a:pPr/>
              <a:t>7</a:t>
            </a:fld>
            <a:endParaRPr lang="en-US"/>
          </a:p>
        </p:txBody>
      </p:sp>
      <p:sp>
        <p:nvSpPr>
          <p:cNvPr id="6" name="Footer Placeholder 5"/>
          <p:cNvSpPr>
            <a:spLocks noGrp="1"/>
          </p:cNvSpPr>
          <p:nvPr>
            <p:ph type="ftr" sz="quarter" idx="11"/>
          </p:nvPr>
        </p:nvSpPr>
        <p:spPr/>
        <p:txBody>
          <a:bodyPr/>
          <a:lstStyle/>
          <a:p>
            <a:r>
              <a:rPr lang="en-US"/>
              <a:t>Department of CSE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a:t>
            </a:r>
            <a:r>
              <a:rPr lang="en-IN" altLang="en-US" dirty="0">
                <a:latin typeface="Times New Roman" panose="02020603050405020304" pitchFamily="18" charset="0"/>
                <a:cs typeface="Times New Roman" panose="02020603050405020304" pitchFamily="18" charset="0"/>
              </a:rPr>
              <a:t>ROPOSED</a:t>
            </a:r>
            <a:r>
              <a:rPr lang="en-US" dirty="0">
                <a:latin typeface="Times New Roman" panose="02020603050405020304" pitchFamily="18" charset="0"/>
                <a:cs typeface="Times New Roman" panose="02020603050405020304" pitchFamily="18" charset="0"/>
              </a:rPr>
              <a:t> S</a:t>
            </a:r>
            <a:r>
              <a:rPr lang="en-IN" altLang="en-US" dirty="0">
                <a:latin typeface="Times New Roman" panose="02020603050405020304" pitchFamily="18" charset="0"/>
                <a:cs typeface="Times New Roman" panose="02020603050405020304" pitchFamily="18" charset="0"/>
              </a:rPr>
              <a:t>YSTEM</a:t>
            </a:r>
            <a:r>
              <a:rPr lang="en-US" dirty="0">
                <a:latin typeface="Times New Roman" panose="02020603050405020304" pitchFamily="18" charset="0"/>
                <a:cs typeface="Times New Roman" panose="02020603050405020304" pitchFamily="18" charset="0"/>
              </a:rPr>
              <a:t> </a:t>
            </a:r>
            <a:endParaRPr lang="en-US" dirty="0"/>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Genetic algorithm is one of the most commonly used machine learning approach in the field of intrusion detection, which consists of  its  natural selection.</a:t>
            </a:r>
          </a:p>
          <a:p>
            <a:pPr lvl="0"/>
            <a:r>
              <a:rPr lang="en-US" sz="2400" dirty="0">
                <a:latin typeface="Times New Roman" panose="02020603050405020304" pitchFamily="18" charset="0"/>
                <a:cs typeface="Times New Roman" panose="02020603050405020304" pitchFamily="18" charset="0"/>
              </a:rPr>
              <a:t>Decision node represents to testing a single attribute of the given instances whereas the leaf node presents the idea about whether the output of a classifier falls in to either normal or intrusion (any of the possible attacks) category during the classification phase.  </a:t>
            </a:r>
          </a:p>
          <a:p>
            <a:r>
              <a:rPr lang="en-US" sz="2400" dirty="0">
                <a:latin typeface="Times New Roman" panose="02020603050405020304" pitchFamily="18" charset="0"/>
                <a:cs typeface="Times New Roman" panose="02020603050405020304" pitchFamily="18" charset="0"/>
              </a:rPr>
              <a:t> a novel method to find intrusion characteristic for IDS using decision tree machine learning of data mining technique was proposed. </a:t>
            </a:r>
          </a:p>
          <a:p>
            <a:r>
              <a:rPr lang="en-US" sz="2400" dirty="0">
                <a:latin typeface="Times New Roman" panose="02020603050405020304" pitchFamily="18" charset="0"/>
                <a:cs typeface="Times New Roman" panose="02020603050405020304" pitchFamily="18" charset="0"/>
              </a:rPr>
              <a:t>Method used to generate of rules is classification by genetic algorithm  of decision tree </a:t>
            </a:r>
          </a:p>
          <a:p>
            <a:endParaRPr lang="en-US" sz="2595"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14DC454-28A2-4BA0-9D35-3E2DD6878E04}" type="datetime1">
              <a:rPr lang="en-US" smtClean="0"/>
              <a:pPr/>
              <a:t>4/26/2023</a:t>
            </a:fld>
            <a:endParaRPr lang="en-US"/>
          </a:p>
        </p:txBody>
      </p:sp>
      <p:sp>
        <p:nvSpPr>
          <p:cNvPr id="5" name="Slide Number Placeholder 4"/>
          <p:cNvSpPr>
            <a:spLocks noGrp="1"/>
          </p:cNvSpPr>
          <p:nvPr>
            <p:ph type="sldNum" sz="quarter" idx="12"/>
          </p:nvPr>
        </p:nvSpPr>
        <p:spPr/>
        <p:txBody>
          <a:bodyPr/>
          <a:lstStyle/>
          <a:p>
            <a:fld id="{891F06AE-6E0A-40F5-91BF-DC1A80B84273}" type="slidenum">
              <a:rPr lang="en-US" smtClean="0"/>
              <a:pPr/>
              <a:t>8</a:t>
            </a:fld>
            <a:endParaRPr lang="en-US"/>
          </a:p>
        </p:txBody>
      </p:sp>
      <p:sp>
        <p:nvSpPr>
          <p:cNvPr id="6" name="Footer Placeholder 5"/>
          <p:cNvSpPr>
            <a:spLocks noGrp="1"/>
          </p:cNvSpPr>
          <p:nvPr>
            <p:ph type="ftr" sz="quarter" idx="11"/>
          </p:nvPr>
        </p:nvSpPr>
        <p:spPr/>
        <p:txBody>
          <a:bodyPr/>
          <a:lstStyle/>
          <a:p>
            <a:r>
              <a:rPr lang="en-US"/>
              <a:t>Department of CSE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885" dirty="0" smtClean="0">
                <a:latin typeface="Times New Roman" panose="02020603050405020304" pitchFamily="18" charset="0"/>
                <a:cs typeface="Times New Roman" panose="02020603050405020304" pitchFamily="18" charset="0"/>
              </a:rPr>
              <a:t>ADVANTAGES</a:t>
            </a:r>
            <a:endParaRPr lang="en-US" dirty="0"/>
          </a:p>
        </p:txBody>
      </p:sp>
      <p:sp>
        <p:nvSpPr>
          <p:cNvPr id="3" name="Content Placeholder 2"/>
          <p:cNvSpPr>
            <a:spLocks noGrp="1"/>
          </p:cNvSpPr>
          <p:nvPr>
            <p:ph idx="1"/>
          </p:nvPr>
        </p:nvSpPr>
        <p:spPr/>
        <p:txBody>
          <a:bodyPr/>
          <a:lstStyle/>
          <a:p>
            <a:r>
              <a:rPr lang="en-US" sz="2400" dirty="0" smtClean="0">
                <a:latin typeface="Times New Roman" panose="02020603050405020304" pitchFamily="18" charset="0"/>
                <a:cs typeface="Times New Roman" panose="02020603050405020304" pitchFamily="18" charset="0"/>
              </a:rPr>
              <a:t>Intrusion </a:t>
            </a:r>
            <a:r>
              <a:rPr lang="en-US" sz="2400" dirty="0">
                <a:latin typeface="Times New Roman" panose="02020603050405020304" pitchFamily="18" charset="0"/>
                <a:cs typeface="Times New Roman" panose="02020603050405020304" pitchFamily="18" charset="0"/>
              </a:rPr>
              <a:t>detection can be performed manually or automatically</a:t>
            </a:r>
          </a:p>
          <a:p>
            <a:r>
              <a:rPr lang="en-US" sz="2400" dirty="0">
                <a:latin typeface="Times New Roman" panose="02020603050405020304" pitchFamily="18" charset="0"/>
                <a:cs typeface="Times New Roman" panose="02020603050405020304" pitchFamily="18" charset="0"/>
              </a:rPr>
              <a:t>IDS need to be able to deal with a large and ever-increasing flow of alerts and events.</a:t>
            </a:r>
          </a:p>
          <a:p>
            <a:r>
              <a:rPr lang="en-US" sz="2400" dirty="0">
                <a:latin typeface="Times New Roman" panose="02020603050405020304" pitchFamily="18" charset="0"/>
                <a:cs typeface="Times New Roman" panose="02020603050405020304" pitchFamily="18" charset="0"/>
              </a:rPr>
              <a:t>Using Decision trees is more essential.</a:t>
            </a:r>
          </a:p>
          <a:p>
            <a:r>
              <a:rPr lang="en-US" sz="2400" dirty="0">
                <a:latin typeface="Times New Roman" panose="02020603050405020304" pitchFamily="18" charset="0"/>
                <a:cs typeface="Times New Roman" panose="02020603050405020304" pitchFamily="18" charset="0"/>
              </a:rPr>
              <a:t>automatic procedures for detecting and responding to intrusion are becoming increasingly essential</a:t>
            </a:r>
          </a:p>
        </p:txBody>
      </p:sp>
      <p:sp>
        <p:nvSpPr>
          <p:cNvPr id="4" name="Date Placeholder 3"/>
          <p:cNvSpPr>
            <a:spLocks noGrp="1"/>
          </p:cNvSpPr>
          <p:nvPr>
            <p:ph type="dt" sz="half" idx="10"/>
          </p:nvPr>
        </p:nvSpPr>
        <p:spPr/>
        <p:txBody>
          <a:bodyPr/>
          <a:lstStyle/>
          <a:p>
            <a:fld id="{191D76F5-4A6B-43F5-ABF0-6284E168E0DA}" type="datetime1">
              <a:rPr lang="en-US" smtClean="0"/>
              <a:pPr/>
              <a:t>4/26/2023</a:t>
            </a:fld>
            <a:endParaRPr lang="en-US"/>
          </a:p>
        </p:txBody>
      </p:sp>
      <p:sp>
        <p:nvSpPr>
          <p:cNvPr id="5" name="Slide Number Placeholder 4"/>
          <p:cNvSpPr>
            <a:spLocks noGrp="1"/>
          </p:cNvSpPr>
          <p:nvPr>
            <p:ph type="sldNum" sz="quarter" idx="12"/>
          </p:nvPr>
        </p:nvSpPr>
        <p:spPr/>
        <p:txBody>
          <a:bodyPr/>
          <a:lstStyle/>
          <a:p>
            <a:fld id="{891F06AE-6E0A-40F5-91BF-DC1A80B84273}" type="slidenum">
              <a:rPr lang="en-US" smtClean="0"/>
              <a:pPr/>
              <a:t>9</a:t>
            </a:fld>
            <a:endParaRPr lang="en-US"/>
          </a:p>
        </p:txBody>
      </p:sp>
      <p:sp>
        <p:nvSpPr>
          <p:cNvPr id="6" name="Footer Placeholder 5"/>
          <p:cNvSpPr>
            <a:spLocks noGrp="1"/>
          </p:cNvSpPr>
          <p:nvPr>
            <p:ph type="ftr" sz="quarter" idx="11"/>
          </p:nvPr>
        </p:nvSpPr>
        <p:spPr/>
        <p:txBody>
          <a:bodyPr/>
          <a:lstStyle/>
          <a:p>
            <a:r>
              <a:rPr lang="en-US"/>
              <a:t>Department of CSE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LITERATURE REVIEW </a:t>
            </a:r>
            <a:endParaRPr lang="en-US" dirty="0"/>
          </a:p>
        </p:txBody>
      </p:sp>
      <p:graphicFrame>
        <p:nvGraphicFramePr>
          <p:cNvPr id="4" name="Content Placeholder 3"/>
          <p:cNvGraphicFramePr>
            <a:graphicFrameLocks noGrp="1"/>
          </p:cNvGraphicFramePr>
          <p:nvPr>
            <p:ph idx="1"/>
          </p:nvPr>
        </p:nvGraphicFramePr>
        <p:xfrm>
          <a:off x="838200" y="1337833"/>
          <a:ext cx="10515600" cy="5303520"/>
        </p:xfrm>
        <a:graphic>
          <a:graphicData uri="http://schemas.openxmlformats.org/drawingml/2006/table">
            <a:tbl>
              <a:tblPr firstRow="1" bandRow="1">
                <a:tableStyleId>{5940675A-B579-460E-94D1-54222C63F5DA}</a:tableStyleId>
              </a:tblPr>
              <a:tblGrid>
                <a:gridCol w="573741">
                  <a:extLst>
                    <a:ext uri="{9D8B030D-6E8A-4147-A177-3AD203B41FA5}">
                      <a16:colId xmlns:a16="http://schemas.microsoft.com/office/drawing/2014/main" xmlns="" val="20000"/>
                    </a:ext>
                  </a:extLst>
                </a:gridCol>
                <a:gridCol w="2205318">
                  <a:extLst>
                    <a:ext uri="{9D8B030D-6E8A-4147-A177-3AD203B41FA5}">
                      <a16:colId xmlns:a16="http://schemas.microsoft.com/office/drawing/2014/main" xmlns="" val="20001"/>
                    </a:ext>
                  </a:extLst>
                </a:gridCol>
                <a:gridCol w="3913094">
                  <a:extLst>
                    <a:ext uri="{9D8B030D-6E8A-4147-A177-3AD203B41FA5}">
                      <a16:colId xmlns:a16="http://schemas.microsoft.com/office/drawing/2014/main" xmlns="" val="20002"/>
                    </a:ext>
                  </a:extLst>
                </a:gridCol>
                <a:gridCol w="2017059">
                  <a:extLst>
                    <a:ext uri="{9D8B030D-6E8A-4147-A177-3AD203B41FA5}">
                      <a16:colId xmlns:a16="http://schemas.microsoft.com/office/drawing/2014/main" xmlns="" val="20003"/>
                    </a:ext>
                  </a:extLst>
                </a:gridCol>
                <a:gridCol w="1806388">
                  <a:extLst>
                    <a:ext uri="{9D8B030D-6E8A-4147-A177-3AD203B41FA5}">
                      <a16:colId xmlns:a16="http://schemas.microsoft.com/office/drawing/2014/main" xmlns="" val="20004"/>
                    </a:ext>
                  </a:extLst>
                </a:gridCol>
              </a:tblGrid>
              <a:tr h="526461">
                <a:tc>
                  <a:txBody>
                    <a:bodyPr/>
                    <a:lstStyle/>
                    <a:p>
                      <a:r>
                        <a:rPr lang="en-US" dirty="0"/>
                        <a:t>s.no</a:t>
                      </a:r>
                    </a:p>
                  </a:txBody>
                  <a:tcPr/>
                </a:tc>
                <a:tc>
                  <a:txBody>
                    <a:bodyPr/>
                    <a:lstStyle/>
                    <a:p>
                      <a:r>
                        <a:rPr lang="en-US" dirty="0"/>
                        <a:t>AUTHOR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t>DISCRIPTION</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t>ADVANTAGE</a:t>
                      </a:r>
                    </a:p>
                    <a:p>
                      <a:endParaRPr lang="en-US" dirty="0"/>
                    </a:p>
                  </a:txBody>
                  <a:tcPr/>
                </a:tc>
                <a:tc>
                  <a:txBody>
                    <a:bodyPr/>
                    <a:lstStyle/>
                    <a:p>
                      <a:r>
                        <a:rPr lang="en-US" dirty="0"/>
                        <a:t>DISADVANTAGE</a:t>
                      </a:r>
                    </a:p>
                  </a:txBody>
                  <a:tcPr/>
                </a:tc>
                <a:extLst>
                  <a:ext uri="{0D108BD9-81ED-4DB2-BD59-A6C34878D82A}">
                    <a16:rowId xmlns:a16="http://schemas.microsoft.com/office/drawing/2014/main" xmlns="" val="10000"/>
                  </a:ext>
                </a:extLst>
              </a:tr>
              <a:tr h="1428966">
                <a:tc>
                  <a:txBody>
                    <a:bodyPr/>
                    <a:lstStyle/>
                    <a:p>
                      <a:r>
                        <a:rPr lang="en-US" dirty="0"/>
                        <a:t>1</a:t>
                      </a:r>
                    </a:p>
                  </a:txBody>
                  <a:tcPr/>
                </a:tc>
                <a:tc>
                  <a:txBody>
                    <a:bodyPr/>
                    <a:lstStyle/>
                    <a:p>
                      <a:r>
                        <a:rPr lang="pl-PL" sz="1800" b="0" i="0" kern="1200" dirty="0">
                          <a:solidFill>
                            <a:schemeClr val="tx1"/>
                          </a:solidFill>
                          <a:effectLst/>
                          <a:latin typeface="+mn-lt"/>
                          <a:ea typeface="+mn-ea"/>
                          <a:cs typeface="+mn-cs"/>
                        </a:rPr>
                        <a:t> </a:t>
                      </a:r>
                      <a:r>
                        <a:rPr lang="pl-PL" sz="1800" b="0" i="0" u="none" strike="noStrike" kern="1200" dirty="0">
                          <a:solidFill>
                            <a:schemeClr val="tx1"/>
                          </a:solidFill>
                          <a:effectLst/>
                          <a:latin typeface="+mn-lt"/>
                          <a:ea typeface="+mn-ea"/>
                          <a:cs typeface="+mn-cs"/>
                        </a:rPr>
                        <a:t>Ahmed, Naser Mahmood, Hu 2016</a:t>
                      </a:r>
                      <a:r>
                        <a:rPr lang="pl-PL" sz="1800" b="0" i="0" kern="1200" dirty="0">
                          <a:solidFill>
                            <a:schemeClr val="tx1"/>
                          </a:solidFill>
                          <a:effectLst/>
                          <a:latin typeface="+mn-lt"/>
                          <a:ea typeface="+mn-ea"/>
                          <a:cs typeface="+mn-cs"/>
                        </a:rPr>
                        <a:t>; </a:t>
                      </a:r>
                      <a:r>
                        <a:rPr lang="pl-PL" sz="1800" b="0" i="0" u="none" strike="noStrike" kern="1200" dirty="0">
                          <a:solidFill>
                            <a:schemeClr val="tx1"/>
                          </a:solidFill>
                          <a:effectLst/>
                          <a:latin typeface="+mn-lt"/>
                          <a:ea typeface="+mn-ea"/>
                          <a:cs typeface="+mn-cs"/>
                        </a:rPr>
                        <a:t>Agrawal, Soni, Agrawal 2017</a:t>
                      </a:r>
                      <a:endParaRPr lang="en-US" dirty="0"/>
                    </a:p>
                  </a:txBody>
                  <a:tcPr/>
                </a:tc>
                <a:tc>
                  <a:txBody>
                    <a:bodyPr/>
                    <a:lstStyle/>
                    <a:p>
                      <a:r>
                        <a:rPr lang="en-US" sz="1800" b="0" i="0" kern="1200" dirty="0">
                          <a:solidFill>
                            <a:schemeClr val="tx1"/>
                          </a:solidFill>
                          <a:effectLst/>
                          <a:latin typeface="+mn-lt"/>
                          <a:ea typeface="+mn-ea"/>
                          <a:cs typeface="+mn-cs"/>
                        </a:rPr>
                        <a:t>An attack is a security threat that involves, but is not limited to, attempting to steal, obtaining and altering information without authorized access or gaining access to a network without permission. </a:t>
                      </a:r>
                      <a:endParaRPr lang="en-US" dirty="0"/>
                    </a:p>
                  </a:txBody>
                  <a:tcPr/>
                </a:tc>
                <a:tc>
                  <a:txBody>
                    <a:bodyPr/>
                    <a:lstStyle/>
                    <a:p>
                      <a:r>
                        <a:rPr lang="en-US" sz="1800" b="0" i="0" kern="1200" dirty="0">
                          <a:solidFill>
                            <a:schemeClr val="tx1"/>
                          </a:solidFill>
                          <a:effectLst/>
                          <a:latin typeface="+mn-lt"/>
                          <a:ea typeface="+mn-ea"/>
                          <a:cs typeface="+mn-cs"/>
                        </a:rPr>
                        <a:t> Denial of Service (DoS), User to Root (U2R), Remote to User (R2L)</a:t>
                      </a:r>
                      <a:endParaRPr lang="en-US" dirty="0"/>
                    </a:p>
                  </a:txBody>
                  <a:tcPr/>
                </a:tc>
                <a:tc>
                  <a:txBody>
                    <a:bodyPr/>
                    <a:lstStyle/>
                    <a:p>
                      <a:r>
                        <a:rPr lang="en-US" sz="1800" b="0" i="0" kern="1200" dirty="0">
                          <a:solidFill>
                            <a:schemeClr val="tx1"/>
                          </a:solidFill>
                          <a:effectLst/>
                          <a:latin typeface="+mn-lt"/>
                          <a:ea typeface="+mn-ea"/>
                          <a:cs typeface="+mn-cs"/>
                        </a:rPr>
                        <a:t>these categories of attacks are described.</a:t>
                      </a:r>
                      <a:endParaRPr lang="en-US" dirty="0"/>
                    </a:p>
                  </a:txBody>
                  <a:tcPr/>
                </a:tc>
                <a:extLst>
                  <a:ext uri="{0D108BD9-81ED-4DB2-BD59-A6C34878D82A}">
                    <a16:rowId xmlns:a16="http://schemas.microsoft.com/office/drawing/2014/main" xmlns="" val="10001"/>
                  </a:ext>
                </a:extLst>
              </a:tr>
              <a:tr h="1428966">
                <a:tc>
                  <a:txBody>
                    <a:bodyPr/>
                    <a:lstStyle/>
                    <a:p>
                      <a:r>
                        <a:rPr lang="en-US" dirty="0"/>
                        <a:t>2</a:t>
                      </a:r>
                    </a:p>
                  </a:txBody>
                  <a:tcPr/>
                </a:tc>
                <a:tc>
                  <a:txBody>
                    <a:bodyPr/>
                    <a:lstStyle/>
                    <a:p>
                      <a:r>
                        <a:rPr lang="pt-BR" sz="1800" b="0" i="0" kern="1200" dirty="0">
                          <a:solidFill>
                            <a:schemeClr val="tx1"/>
                          </a:solidFill>
                          <a:effectLst/>
                          <a:latin typeface="+mn-lt"/>
                          <a:ea typeface="+mn-ea"/>
                          <a:cs typeface="+mn-cs"/>
                        </a:rPr>
                        <a:t>(</a:t>
                      </a:r>
                      <a:r>
                        <a:rPr lang="pt-BR" sz="1800" b="0" i="0" u="none" strike="noStrike" kern="1200" dirty="0">
                          <a:solidFill>
                            <a:schemeClr val="tx1"/>
                          </a:solidFill>
                          <a:effectLst/>
                          <a:latin typeface="+mn-lt"/>
                          <a:ea typeface="+mn-ea"/>
                          <a:cs typeface="+mn-cs"/>
                        </a:rPr>
                        <a:t>Dias, Cerqueira, Assis, Almeida 2017</a:t>
                      </a:r>
                      <a:r>
                        <a:rPr lang="pt-BR" sz="1800" b="0" i="0" kern="1200" dirty="0">
                          <a:solidFill>
                            <a:schemeClr val="tx1"/>
                          </a:solidFill>
                          <a:effectLst/>
                          <a:latin typeface="+mn-lt"/>
                          <a:ea typeface="+mn-ea"/>
                          <a:cs typeface="+mn-cs"/>
                        </a:rPr>
                        <a:t>.</a:t>
                      </a:r>
                      <a:endParaRPr lang="en-US" dirty="0"/>
                    </a:p>
                  </a:txBody>
                  <a:tcPr/>
                </a:tc>
                <a:tc>
                  <a:txBody>
                    <a:bodyPr/>
                    <a:lstStyle/>
                    <a:p>
                      <a:r>
                        <a:rPr lang="en-US" sz="1800" b="0" i="0" kern="1200" dirty="0">
                          <a:solidFill>
                            <a:schemeClr val="tx1"/>
                          </a:solidFill>
                          <a:effectLst/>
                          <a:latin typeface="+mn-lt"/>
                          <a:ea typeface="+mn-ea"/>
                          <a:cs typeface="+mn-cs"/>
                        </a:rPr>
                        <a:t>Denial of Service is a type of attack whereby the attacker aims to prevent the authorized user from using the computer services.</a:t>
                      </a:r>
                      <a:endParaRPr lang="en-US" dirty="0"/>
                    </a:p>
                  </a:txBody>
                  <a:tcPr/>
                </a:tc>
                <a:tc>
                  <a:txBody>
                    <a:bodyPr/>
                    <a:lstStyle/>
                    <a:p>
                      <a:r>
                        <a:rPr lang="en-US" sz="1800" b="0" i="0" kern="1200" dirty="0">
                          <a:solidFill>
                            <a:schemeClr val="tx1"/>
                          </a:solidFill>
                          <a:effectLst/>
                          <a:latin typeface="+mn-lt"/>
                          <a:ea typeface="+mn-ea"/>
                          <a:cs typeface="+mn-cs"/>
                        </a:rPr>
                        <a:t>DoS can be done by flooding the network and disrupting a connection or service.</a:t>
                      </a:r>
                      <a:endParaRPr lang="en-US" dirty="0"/>
                    </a:p>
                  </a:txBody>
                  <a:tcPr/>
                </a:tc>
                <a:tc>
                  <a:txBody>
                    <a:bodyPr/>
                    <a:lstStyle/>
                    <a:p>
                      <a:r>
                        <a:rPr lang="en-US" sz="1800" b="0" i="0" kern="1200" dirty="0">
                          <a:solidFill>
                            <a:schemeClr val="tx1"/>
                          </a:solidFill>
                          <a:effectLst/>
                          <a:latin typeface="+mn-lt"/>
                          <a:ea typeface="+mn-ea"/>
                          <a:cs typeface="+mn-cs"/>
                        </a:rPr>
                        <a:t> DoS attacks include Smurf, Land and Ping of Death</a:t>
                      </a:r>
                      <a:endParaRPr lang="en-US" dirty="0"/>
                    </a:p>
                  </a:txBody>
                  <a:tcPr/>
                </a:tc>
                <a:extLst>
                  <a:ext uri="{0D108BD9-81ED-4DB2-BD59-A6C34878D82A}">
                    <a16:rowId xmlns:a16="http://schemas.microsoft.com/office/drawing/2014/main" xmlns="" val="10002"/>
                  </a:ext>
                </a:extLst>
              </a:tr>
              <a:tr h="984350">
                <a:tc>
                  <a:txBody>
                    <a:bodyPr/>
                    <a:lstStyle/>
                    <a:p>
                      <a:r>
                        <a:rPr lang="en-US" dirty="0"/>
                        <a:t>3</a:t>
                      </a:r>
                    </a:p>
                  </a:txBody>
                  <a:tcPr/>
                </a:tc>
                <a:tc>
                  <a:txBody>
                    <a:bodyPr/>
                    <a:lstStyle/>
                    <a:p>
                      <a:r>
                        <a:rPr lang="pt-BR" sz="1800" b="0" i="0" kern="1200" dirty="0">
                          <a:solidFill>
                            <a:schemeClr val="tx1"/>
                          </a:solidFill>
                          <a:effectLst/>
                          <a:latin typeface="+mn-lt"/>
                          <a:ea typeface="+mn-ea"/>
                          <a:cs typeface="+mn-cs"/>
                        </a:rPr>
                        <a:t>(</a:t>
                      </a:r>
                      <a:r>
                        <a:rPr lang="pt-BR" sz="1800" b="0" i="0" u="none" strike="noStrike" kern="1200" dirty="0">
                          <a:solidFill>
                            <a:schemeClr val="tx1"/>
                          </a:solidFill>
                          <a:effectLst/>
                          <a:latin typeface="+mn-lt"/>
                          <a:ea typeface="+mn-ea"/>
                          <a:cs typeface="+mn-cs"/>
                        </a:rPr>
                        <a:t>Dias, Cerqueira, Assis, Almeida 2017</a:t>
                      </a:r>
                      <a:r>
                        <a:rPr lang="pt-BR" sz="1800" b="0" i="0" kern="1200" dirty="0">
                          <a:solidFill>
                            <a:schemeClr val="tx1"/>
                          </a:solidFill>
                          <a:effectLst/>
                          <a:latin typeface="+mn-lt"/>
                          <a:ea typeface="+mn-ea"/>
                          <a:cs typeface="+mn-cs"/>
                        </a:rPr>
                        <a:t>).</a:t>
                      </a:r>
                      <a:endParaRPr lang="en-US" dirty="0"/>
                    </a:p>
                  </a:txBody>
                  <a:tcPr/>
                </a:tc>
                <a:tc>
                  <a:txBody>
                    <a:bodyPr/>
                    <a:lstStyle/>
                    <a:p>
                      <a:r>
                        <a:rPr lang="en-US" sz="1800" b="0" i="0" kern="1200" dirty="0">
                          <a:solidFill>
                            <a:schemeClr val="tx1"/>
                          </a:solidFill>
                          <a:effectLst/>
                          <a:latin typeface="+mn-lt"/>
                          <a:ea typeface="+mn-ea"/>
                          <a:cs typeface="+mn-cs"/>
                        </a:rPr>
                        <a:t>he user to root attack is a type of attack whereby the attacker gets access to a normal user account</a:t>
                      </a:r>
                      <a:endParaRPr lang="en-US" dirty="0"/>
                    </a:p>
                  </a:txBody>
                  <a:tcPr/>
                </a:tc>
                <a:tc>
                  <a:txBody>
                    <a:bodyPr/>
                    <a:lstStyle/>
                    <a:p>
                      <a:r>
                        <a:rPr lang="en-US" sz="1800" b="0" i="0" kern="1200" dirty="0">
                          <a:solidFill>
                            <a:schemeClr val="tx1"/>
                          </a:solidFill>
                          <a:effectLst/>
                          <a:latin typeface="+mn-lt"/>
                          <a:ea typeface="+mn-ea"/>
                          <a:cs typeface="+mn-cs"/>
                        </a:rPr>
                        <a:t>then exploits system vulnerabilities to gain root privileges</a:t>
                      </a:r>
                      <a:endParaRPr lang="en-US" dirty="0"/>
                    </a:p>
                  </a:txBody>
                  <a:tcPr/>
                </a:tc>
                <a:tc>
                  <a:txBody>
                    <a:bodyPr/>
                    <a:lstStyle/>
                    <a:p>
                      <a:r>
                        <a:rPr lang="en-US" sz="1800" b="0" i="0" kern="1200" dirty="0">
                          <a:solidFill>
                            <a:schemeClr val="tx1"/>
                          </a:solidFill>
                          <a:effectLst/>
                          <a:latin typeface="+mn-lt"/>
                          <a:ea typeface="+mn-ea"/>
                          <a:cs typeface="+mn-cs"/>
                        </a:rPr>
                        <a:t> U2R attacks are Load module, Rootkit and Buffer overflow </a:t>
                      </a:r>
                      <a:endParaRPr lang="en-US" dirty="0"/>
                    </a:p>
                  </a:txBody>
                  <a:tcPr/>
                </a:tc>
                <a:extLst>
                  <a:ext uri="{0D108BD9-81ED-4DB2-BD59-A6C34878D82A}">
                    <a16:rowId xmlns:a16="http://schemas.microsoft.com/office/drawing/2014/main" xmlns="" val="10003"/>
                  </a:ext>
                </a:extLst>
              </a:tr>
            </a:tbl>
          </a:graphicData>
        </a:graphic>
      </p:graphicFrame>
      <p:sp>
        <p:nvSpPr>
          <p:cNvPr id="5" name="Date Placeholder 4"/>
          <p:cNvSpPr>
            <a:spLocks noGrp="1"/>
          </p:cNvSpPr>
          <p:nvPr>
            <p:ph type="dt" sz="half" idx="10"/>
          </p:nvPr>
        </p:nvSpPr>
        <p:spPr/>
        <p:txBody>
          <a:bodyPr/>
          <a:lstStyle/>
          <a:p>
            <a:fld id="{5274EC28-CB69-4271-B13B-EDE33B7D0C8D}" type="datetime1">
              <a:rPr lang="en-US" smtClean="0"/>
              <a:pPr/>
              <a:t>4/26/2023</a:t>
            </a:fld>
            <a:endParaRPr lang="en-US"/>
          </a:p>
        </p:txBody>
      </p:sp>
      <p:sp>
        <p:nvSpPr>
          <p:cNvPr id="6" name="Slide Number Placeholder 5"/>
          <p:cNvSpPr>
            <a:spLocks noGrp="1"/>
          </p:cNvSpPr>
          <p:nvPr>
            <p:ph type="sldNum" sz="quarter" idx="12"/>
          </p:nvPr>
        </p:nvSpPr>
        <p:spPr/>
        <p:txBody>
          <a:bodyPr/>
          <a:lstStyle/>
          <a:p>
            <a:fld id="{891F06AE-6E0A-40F5-91BF-DC1A80B84273}" type="slidenum">
              <a:rPr lang="en-US" smtClean="0"/>
              <a:pPr/>
              <a:t>10</a:t>
            </a:fld>
            <a:endParaRPr lang="en-US"/>
          </a:p>
        </p:txBody>
      </p:sp>
      <p:sp>
        <p:nvSpPr>
          <p:cNvPr id="7" name="Footer Placeholder 6"/>
          <p:cNvSpPr>
            <a:spLocks noGrp="1"/>
          </p:cNvSpPr>
          <p:nvPr>
            <p:ph type="ftr" sz="quarter" idx="11"/>
          </p:nvPr>
        </p:nvSpPr>
        <p:spPr/>
        <p:txBody>
          <a:bodyPr/>
          <a:lstStyle/>
          <a:p>
            <a:r>
              <a:rPr lang="en-US"/>
              <a:t>Department of CSE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a:t>
            </a:r>
          </a:p>
        </p:txBody>
      </p:sp>
      <p:graphicFrame>
        <p:nvGraphicFramePr>
          <p:cNvPr id="4" name="Content Placeholder 3"/>
          <p:cNvGraphicFramePr>
            <a:graphicFrameLocks noGrp="1"/>
          </p:cNvGraphicFramePr>
          <p:nvPr>
            <p:ph idx="1"/>
          </p:nvPr>
        </p:nvGraphicFramePr>
        <p:xfrm>
          <a:off x="838200" y="1825625"/>
          <a:ext cx="10515600" cy="4485640"/>
        </p:xfrm>
        <a:graphic>
          <a:graphicData uri="http://schemas.openxmlformats.org/drawingml/2006/table">
            <a:tbl>
              <a:tblPr firstRow="1" bandRow="1">
                <a:tableStyleId>{5940675A-B579-460E-94D1-54222C63F5DA}</a:tableStyleId>
              </a:tblPr>
              <a:tblGrid>
                <a:gridCol w="797417">
                  <a:extLst>
                    <a:ext uri="{9D8B030D-6E8A-4147-A177-3AD203B41FA5}">
                      <a16:colId xmlns:a16="http://schemas.microsoft.com/office/drawing/2014/main" xmlns="" val="20000"/>
                    </a:ext>
                  </a:extLst>
                </a:gridCol>
                <a:gridCol w="2266682">
                  <a:extLst>
                    <a:ext uri="{9D8B030D-6E8A-4147-A177-3AD203B41FA5}">
                      <a16:colId xmlns:a16="http://schemas.microsoft.com/office/drawing/2014/main" xmlns="" val="20001"/>
                    </a:ext>
                  </a:extLst>
                </a:gridCol>
                <a:gridCol w="3245261">
                  <a:extLst>
                    <a:ext uri="{9D8B030D-6E8A-4147-A177-3AD203B41FA5}">
                      <a16:colId xmlns:a16="http://schemas.microsoft.com/office/drawing/2014/main" xmlns="" val="20002"/>
                    </a:ext>
                  </a:extLst>
                </a:gridCol>
                <a:gridCol w="2103120">
                  <a:extLst>
                    <a:ext uri="{9D8B030D-6E8A-4147-A177-3AD203B41FA5}">
                      <a16:colId xmlns:a16="http://schemas.microsoft.com/office/drawing/2014/main" xmlns="" val="20003"/>
                    </a:ext>
                  </a:extLst>
                </a:gridCol>
                <a:gridCol w="2103120">
                  <a:extLst>
                    <a:ext uri="{9D8B030D-6E8A-4147-A177-3AD203B41FA5}">
                      <a16:colId xmlns:a16="http://schemas.microsoft.com/office/drawing/2014/main" xmlns="" val="20004"/>
                    </a:ext>
                  </a:extLst>
                </a:gridCol>
              </a:tblGrid>
              <a:tr h="370840">
                <a:tc>
                  <a:txBody>
                    <a:bodyPr/>
                    <a:lstStyle/>
                    <a:p>
                      <a:endParaRPr lang="en-US" dirty="0"/>
                    </a:p>
                  </a:txBody>
                  <a:tcPr/>
                </a:tc>
                <a:tc>
                  <a:txBody>
                    <a:bodyPr/>
                    <a:lstStyle/>
                    <a:p>
                      <a:r>
                        <a:rPr lang="en-US" dirty="0"/>
                        <a:t>Author </a:t>
                      </a:r>
                    </a:p>
                  </a:txBody>
                  <a:tcPr/>
                </a:tc>
                <a:tc>
                  <a:txBody>
                    <a:bodyPr/>
                    <a:lstStyle/>
                    <a:p>
                      <a:r>
                        <a:rPr lang="en-US" dirty="0"/>
                        <a:t>description</a:t>
                      </a:r>
                    </a:p>
                  </a:txBody>
                  <a:tcPr/>
                </a:tc>
                <a:tc>
                  <a:txBody>
                    <a:bodyPr/>
                    <a:lstStyle/>
                    <a:p>
                      <a:r>
                        <a:rPr lang="en-US" dirty="0"/>
                        <a:t>advantage</a:t>
                      </a:r>
                    </a:p>
                  </a:txBody>
                  <a:tcPr/>
                </a:tc>
                <a:tc>
                  <a:txBody>
                    <a:bodyPr/>
                    <a:lstStyle/>
                    <a:p>
                      <a:r>
                        <a:rPr lang="en-US" dirty="0"/>
                        <a:t>disadvantage</a:t>
                      </a:r>
                    </a:p>
                  </a:txBody>
                  <a:tcPr/>
                </a:tc>
                <a:extLst>
                  <a:ext uri="{0D108BD9-81ED-4DB2-BD59-A6C34878D82A}">
                    <a16:rowId xmlns:a16="http://schemas.microsoft.com/office/drawing/2014/main" xmlns="" val="10000"/>
                  </a:ext>
                </a:extLst>
              </a:tr>
              <a:tr h="370840">
                <a:tc>
                  <a:txBody>
                    <a:bodyPr/>
                    <a:lstStyle/>
                    <a:p>
                      <a:r>
                        <a:rPr lang="en-US" dirty="0"/>
                        <a:t>4</a:t>
                      </a:r>
                    </a:p>
                  </a:txBody>
                  <a:tcPr/>
                </a:tc>
                <a:tc>
                  <a:txBody>
                    <a:bodyPr/>
                    <a:lstStyle/>
                    <a:p>
                      <a:r>
                        <a:rPr lang="en-US" dirty="0"/>
                        <a:t>Zhao</a:t>
                      </a:r>
                    </a:p>
                  </a:txBody>
                  <a:tcPr/>
                </a:tc>
                <a:tc>
                  <a:txBody>
                    <a:bodyPr/>
                    <a:lstStyle/>
                    <a:p>
                      <a:r>
                        <a:rPr lang="en-US" dirty="0"/>
                        <a:t>presented a state-of-the-art survey of deep learning applications within machine hake monitoring</a:t>
                      </a:r>
                    </a:p>
                  </a:txBody>
                  <a:tcPr/>
                </a:tc>
                <a:tc>
                  <a:txBody>
                    <a:bodyPr/>
                    <a:lstStyle/>
                    <a:p>
                      <a:r>
                        <a:rPr lang="en-US" dirty="0"/>
                        <a:t>the DDoS detection system proposed</a:t>
                      </a:r>
                    </a:p>
                  </a:txBody>
                  <a:tcPr/>
                </a:tc>
                <a:tc>
                  <a:txBody>
                    <a:bodyPr/>
                    <a:lstStyle/>
                    <a:p>
                      <a:r>
                        <a:rPr lang="en-US" dirty="0"/>
                        <a:t>Less efficiency method used in this system</a:t>
                      </a:r>
                    </a:p>
                  </a:txBody>
                  <a:tcPr/>
                </a:tc>
                <a:extLst>
                  <a:ext uri="{0D108BD9-81ED-4DB2-BD59-A6C34878D82A}">
                    <a16:rowId xmlns:a16="http://schemas.microsoft.com/office/drawing/2014/main" xmlns="" val="10001"/>
                  </a:ext>
                </a:extLst>
              </a:tr>
              <a:tr h="370840">
                <a:tc>
                  <a:txBody>
                    <a:bodyPr/>
                    <a:lstStyle/>
                    <a:p>
                      <a:r>
                        <a:rPr lang="en-US" dirty="0"/>
                        <a:t>5</a:t>
                      </a:r>
                    </a:p>
                  </a:txBody>
                  <a:tcPr/>
                </a:tc>
                <a:tc>
                  <a:txBody>
                    <a:bodyPr/>
                    <a:lstStyle/>
                    <a:p>
                      <a:r>
                        <a:rPr lang="en-US" dirty="0"/>
                        <a:t>L. You, Y. Li, Y. Wang, J. Zhang, and Y. Yang,</a:t>
                      </a:r>
                    </a:p>
                  </a:txBody>
                  <a:tcPr/>
                </a:tc>
                <a:tc>
                  <a:txBody>
                    <a:bodyPr/>
                    <a:lstStyle/>
                    <a:p>
                      <a:r>
                        <a:rPr lang="en-US" dirty="0"/>
                        <a:t>propose an automatic security auditing tool for short messages (SMS). </a:t>
                      </a:r>
                    </a:p>
                  </a:txBody>
                  <a:tcPr/>
                </a:tc>
                <a:tc>
                  <a:txBody>
                    <a:bodyPr/>
                    <a:lstStyle/>
                    <a:p>
                      <a:r>
                        <a:rPr lang="en-US" dirty="0"/>
                        <a:t>Their method is based upon the RNN model</a:t>
                      </a:r>
                    </a:p>
                  </a:txBody>
                  <a:tcPr/>
                </a:tc>
                <a:tc>
                  <a:txBody>
                    <a:bodyPr/>
                    <a:lstStyle/>
                    <a:p>
                      <a:r>
                        <a:rPr lang="en-US" dirty="0"/>
                        <a:t> evaluations resulted in an accuracy rate of 50.7%</a:t>
                      </a:r>
                    </a:p>
                  </a:txBody>
                  <a:tcPr/>
                </a:tc>
                <a:extLst>
                  <a:ext uri="{0D108BD9-81ED-4DB2-BD59-A6C34878D82A}">
                    <a16:rowId xmlns:a16="http://schemas.microsoft.com/office/drawing/2014/main" xmlns="" val="10002"/>
                  </a:ext>
                </a:extLst>
              </a:tr>
              <a:tr h="370840">
                <a:tc>
                  <a:txBody>
                    <a:bodyPr/>
                    <a:lstStyle/>
                    <a:p>
                      <a:r>
                        <a:rPr lang="en-US" dirty="0"/>
                        <a:t>6</a:t>
                      </a:r>
                    </a:p>
                  </a:txBody>
                  <a:tcPr/>
                </a:tc>
                <a:tc>
                  <a:txBody>
                    <a:bodyPr/>
                    <a:lstStyle/>
                    <a:p>
                      <a:r>
                        <a:rPr lang="en-US" dirty="0"/>
                        <a:t>Y. Wang, W.-d. </a:t>
                      </a:r>
                      <a:r>
                        <a:rPr lang="en-US" dirty="0" err="1"/>
                        <a:t>Cai</a:t>
                      </a:r>
                      <a:r>
                        <a:rPr lang="en-US" dirty="0"/>
                        <a:t>, and P.-c. Wei, </a:t>
                      </a:r>
                    </a:p>
                  </a:txBody>
                  <a:tcPr/>
                </a:tc>
                <a:tc>
                  <a:txBody>
                    <a:bodyPr/>
                    <a:lstStyle/>
                    <a:p>
                      <a:r>
                        <a:rPr lang="en-US" dirty="0"/>
                        <a:t>propose an approach for detecting malicious JavaScript</a:t>
                      </a:r>
                    </a:p>
                  </a:txBody>
                  <a:tcPr/>
                </a:tc>
                <a:tc>
                  <a:txBody>
                    <a:bodyPr/>
                    <a:lstStyle/>
                    <a:p>
                      <a:r>
                        <a:rPr lang="en-US" dirty="0"/>
                        <a:t> Their method uses a 3 layer </a:t>
                      </a:r>
                      <a:r>
                        <a:rPr lang="en-US" dirty="0" err="1"/>
                        <a:t>SdA</a:t>
                      </a:r>
                      <a:r>
                        <a:rPr lang="en-US" dirty="0"/>
                        <a:t> with linear regression.</a:t>
                      </a:r>
                    </a:p>
                  </a:txBody>
                  <a:tcPr/>
                </a:tc>
                <a:tc>
                  <a:txBody>
                    <a:bodyPr/>
                    <a:lstStyle/>
                    <a:p>
                      <a:r>
                        <a:rPr lang="en-US" dirty="0"/>
                        <a:t>was evaluated against other classifier techniques, showing that it had the</a:t>
                      </a:r>
                      <a:r>
                        <a:rPr lang="en-US" baseline="0" dirty="0"/>
                        <a:t> low result.</a:t>
                      </a:r>
                      <a:endParaRPr lang="en-US" dirty="0"/>
                    </a:p>
                  </a:txBody>
                  <a:tcPr/>
                </a:tc>
                <a:extLst>
                  <a:ext uri="{0D108BD9-81ED-4DB2-BD59-A6C34878D82A}">
                    <a16:rowId xmlns:a16="http://schemas.microsoft.com/office/drawing/2014/main" xmlns="" val="10003"/>
                  </a:ext>
                </a:extLst>
              </a:tr>
            </a:tbl>
          </a:graphicData>
        </a:graphic>
      </p:graphicFrame>
      <p:sp>
        <p:nvSpPr>
          <p:cNvPr id="5" name="Date Placeholder 4"/>
          <p:cNvSpPr>
            <a:spLocks noGrp="1"/>
          </p:cNvSpPr>
          <p:nvPr>
            <p:ph type="dt" sz="half" idx="10"/>
          </p:nvPr>
        </p:nvSpPr>
        <p:spPr/>
        <p:txBody>
          <a:bodyPr/>
          <a:lstStyle/>
          <a:p>
            <a:fld id="{767F9ECF-1719-4449-8840-589CE5520AB4}" type="datetime1">
              <a:rPr lang="en-US" smtClean="0"/>
              <a:pPr/>
              <a:t>4/26/2023</a:t>
            </a:fld>
            <a:endParaRPr lang="en-US"/>
          </a:p>
        </p:txBody>
      </p:sp>
      <p:sp>
        <p:nvSpPr>
          <p:cNvPr id="6" name="Slide Number Placeholder 5"/>
          <p:cNvSpPr>
            <a:spLocks noGrp="1"/>
          </p:cNvSpPr>
          <p:nvPr>
            <p:ph type="sldNum" sz="quarter" idx="12"/>
          </p:nvPr>
        </p:nvSpPr>
        <p:spPr/>
        <p:txBody>
          <a:bodyPr/>
          <a:lstStyle/>
          <a:p>
            <a:fld id="{891F06AE-6E0A-40F5-91BF-DC1A80B84273}" type="slidenum">
              <a:rPr lang="en-US" smtClean="0"/>
              <a:pPr/>
              <a:t>11</a:t>
            </a:fld>
            <a:endParaRPr lang="en-US"/>
          </a:p>
        </p:txBody>
      </p:sp>
      <p:sp>
        <p:nvSpPr>
          <p:cNvPr id="7" name="Footer Placeholder 6"/>
          <p:cNvSpPr>
            <a:spLocks noGrp="1"/>
          </p:cNvSpPr>
          <p:nvPr>
            <p:ph type="ftr" sz="quarter" idx="11"/>
          </p:nvPr>
        </p:nvSpPr>
        <p:spPr/>
        <p:txBody>
          <a:bodyPr/>
          <a:lstStyle/>
          <a:p>
            <a:r>
              <a:rPr lang="en-US"/>
              <a:t>Department of CSE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50" y="101600"/>
            <a:ext cx="10515600" cy="701040"/>
          </a:xfrm>
        </p:spPr>
        <p:txBody>
          <a:bodyPr>
            <a:normAutofit fontScale="90000"/>
          </a:bodyPr>
          <a:lstStyle/>
          <a:p>
            <a:r>
              <a:rPr lang="en-US" sz="4885" dirty="0">
                <a:latin typeface="Times New Roman" panose="02020603050405020304" pitchFamily="18" charset="0"/>
                <a:cs typeface="Times New Roman" panose="02020603050405020304" pitchFamily="18" charset="0"/>
              </a:rPr>
              <a:t>F</a:t>
            </a:r>
            <a:r>
              <a:rPr lang="en-IN" altLang="en-US" sz="4885" dirty="0">
                <a:latin typeface="Times New Roman" panose="02020603050405020304" pitchFamily="18" charset="0"/>
                <a:cs typeface="Times New Roman" panose="02020603050405020304" pitchFamily="18" charset="0"/>
              </a:rPr>
              <a:t>LOW</a:t>
            </a:r>
            <a:r>
              <a:rPr lang="en-US" sz="4885" dirty="0">
                <a:latin typeface="Times New Roman" panose="02020603050405020304" pitchFamily="18" charset="0"/>
                <a:cs typeface="Times New Roman" panose="02020603050405020304" pitchFamily="18" charset="0"/>
              </a:rPr>
              <a:t> </a:t>
            </a:r>
            <a:r>
              <a:rPr lang="en-IN" altLang="en-US" sz="4885" dirty="0" smtClean="0">
                <a:latin typeface="Times New Roman" panose="02020603050405020304" pitchFamily="18" charset="0"/>
                <a:cs typeface="Times New Roman" panose="02020603050405020304" pitchFamily="18" charset="0"/>
              </a:rPr>
              <a:t>DIAGRAM</a:t>
            </a:r>
            <a:endParaRPr lang="en-US" dirty="0"/>
          </a:p>
        </p:txBody>
      </p:sp>
      <p:sp>
        <p:nvSpPr>
          <p:cNvPr id="4" name="Date Placeholder 3"/>
          <p:cNvSpPr>
            <a:spLocks noGrp="1"/>
          </p:cNvSpPr>
          <p:nvPr>
            <p:ph type="dt" sz="half" idx="10"/>
          </p:nvPr>
        </p:nvSpPr>
        <p:spPr/>
        <p:txBody>
          <a:bodyPr/>
          <a:lstStyle/>
          <a:p>
            <a:fld id="{A383155C-7C85-4DAA-9DF5-4811F6D7376F}" type="datetime1">
              <a:rPr lang="en-US" smtClean="0"/>
              <a:pPr/>
              <a:t>4/26/2023</a:t>
            </a:fld>
            <a:endParaRPr lang="en-US"/>
          </a:p>
        </p:txBody>
      </p:sp>
      <p:sp>
        <p:nvSpPr>
          <p:cNvPr id="5" name="Slide Number Placeholder 4"/>
          <p:cNvSpPr>
            <a:spLocks noGrp="1"/>
          </p:cNvSpPr>
          <p:nvPr>
            <p:ph type="sldNum" sz="quarter" idx="12"/>
          </p:nvPr>
        </p:nvSpPr>
        <p:spPr/>
        <p:txBody>
          <a:bodyPr/>
          <a:lstStyle/>
          <a:p>
            <a:fld id="{891F06AE-6E0A-40F5-91BF-DC1A80B84273}" type="slidenum">
              <a:rPr lang="en-US" smtClean="0"/>
              <a:pPr/>
              <a:t>12</a:t>
            </a:fld>
            <a:endParaRPr lang="en-US"/>
          </a:p>
        </p:txBody>
      </p:sp>
      <p:sp>
        <p:nvSpPr>
          <p:cNvPr id="6" name="Footer Placeholder 5"/>
          <p:cNvSpPr>
            <a:spLocks noGrp="1"/>
          </p:cNvSpPr>
          <p:nvPr>
            <p:ph type="ftr" sz="quarter" idx="11"/>
          </p:nvPr>
        </p:nvSpPr>
        <p:spPr/>
        <p:txBody>
          <a:bodyPr/>
          <a:lstStyle/>
          <a:p>
            <a:r>
              <a:rPr lang="en-US"/>
              <a:t>Department of CSE</a:t>
            </a:r>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5440" y="1348740"/>
            <a:ext cx="8907780" cy="4828223"/>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SYSTEM ARCHITECTURE</a:t>
            </a:r>
          </a:p>
        </p:txBody>
      </p:sp>
      <p:pic>
        <p:nvPicPr>
          <p:cNvPr id="4" name="Content Placeholder 3" descr="C:\Users\Industrial Box PC\Desktop\Intrusion-Detection.png"/>
          <p:cNvPicPr>
            <a:picLocks noGrp="1" noChangeAspect="1" noChangeArrowheads="1"/>
          </p:cNvPicPr>
          <p:nvPr>
            <p:ph idx="1"/>
          </p:nvPr>
        </p:nvPicPr>
        <p:blipFill>
          <a:blip r:embed="rId2"/>
          <a:srcRect/>
          <a:stretch>
            <a:fillRect/>
          </a:stretch>
        </p:blipFill>
        <p:spPr bwMode="auto">
          <a:xfrm>
            <a:off x="2924355" y="1871932"/>
            <a:ext cx="6055743" cy="4390845"/>
          </a:xfrm>
          <a:prstGeom prst="rect">
            <a:avLst/>
          </a:prstGeom>
          <a:noFill/>
        </p:spPr>
      </p:pic>
      <p:sp>
        <p:nvSpPr>
          <p:cNvPr id="5" name="Date Placeholder 4"/>
          <p:cNvSpPr>
            <a:spLocks noGrp="1"/>
          </p:cNvSpPr>
          <p:nvPr>
            <p:ph type="dt" sz="half" idx="10"/>
          </p:nvPr>
        </p:nvSpPr>
        <p:spPr/>
        <p:txBody>
          <a:bodyPr/>
          <a:lstStyle/>
          <a:p>
            <a:fld id="{810DA2A0-0713-47D5-8287-2601FA1DB56E}" type="datetime1">
              <a:rPr lang="en-US" smtClean="0"/>
              <a:pPr/>
              <a:t>4/26/2023</a:t>
            </a:fld>
            <a:endParaRPr lang="en-US"/>
          </a:p>
        </p:txBody>
      </p:sp>
      <p:sp>
        <p:nvSpPr>
          <p:cNvPr id="6" name="Slide Number Placeholder 5"/>
          <p:cNvSpPr>
            <a:spLocks noGrp="1"/>
          </p:cNvSpPr>
          <p:nvPr>
            <p:ph type="sldNum" sz="quarter" idx="12"/>
          </p:nvPr>
        </p:nvSpPr>
        <p:spPr/>
        <p:txBody>
          <a:bodyPr/>
          <a:lstStyle/>
          <a:p>
            <a:fld id="{891F06AE-6E0A-40F5-91BF-DC1A80B84273}" type="slidenum">
              <a:rPr lang="en-US" smtClean="0"/>
              <a:pPr/>
              <a:t>13</a:t>
            </a:fld>
            <a:endParaRPr lang="en-US"/>
          </a:p>
        </p:txBody>
      </p:sp>
      <p:sp>
        <p:nvSpPr>
          <p:cNvPr id="7" name="Footer Placeholder 6"/>
          <p:cNvSpPr>
            <a:spLocks noGrp="1"/>
          </p:cNvSpPr>
          <p:nvPr>
            <p:ph type="ftr" sz="quarter" idx="11"/>
          </p:nvPr>
        </p:nvSpPr>
        <p:spPr/>
        <p:txBody>
          <a:bodyPr/>
          <a:lstStyle/>
          <a:p>
            <a:r>
              <a:rPr lang="en-US"/>
              <a:t>Department of CSE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MODULES IMPLEMENTATION</a:t>
            </a:r>
          </a:p>
        </p:txBody>
      </p:sp>
      <p:sp>
        <p:nvSpPr>
          <p:cNvPr id="3" name="Content Placeholder 2"/>
          <p:cNvSpPr>
            <a:spLocks noGrp="1"/>
          </p:cNvSpPr>
          <p:nvPr>
            <p:ph idx="1"/>
          </p:nvPr>
        </p:nvSpPr>
        <p:spPr/>
        <p:txBody>
          <a:bodyPr>
            <a:normAutofit/>
          </a:bodyPr>
          <a:lstStyle/>
          <a:p>
            <a:pPr lvl="0"/>
            <a:r>
              <a:rPr lang="en-US" sz="2400" dirty="0">
                <a:latin typeface="Times New Roman" pitchFamily="18" charset="0"/>
                <a:cs typeface="Times New Roman" pitchFamily="18" charset="0"/>
              </a:rPr>
              <a:t>Dataset collection</a:t>
            </a:r>
            <a:endParaRPr lang="en-IN"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Data Cleaning</a:t>
            </a:r>
            <a:endParaRPr lang="en-IN"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Feature Extraction</a:t>
            </a:r>
            <a:endParaRPr lang="en-IN"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Model training</a:t>
            </a:r>
            <a:endParaRPr lang="en-IN"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Testing model</a:t>
            </a:r>
            <a:endParaRPr lang="en-IN"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Performance Evaluation</a:t>
            </a:r>
            <a:endParaRPr lang="en-IN"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Prediction</a:t>
            </a:r>
            <a:endParaRPr lang="en-IN" sz="2400" dirty="0">
              <a:latin typeface="Times New Roman"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2183710-FD27-4477-88A8-A6C46BCA0A66}" type="datetime1">
              <a:rPr lang="en-US" smtClean="0"/>
              <a:pPr/>
              <a:t>4/26/2023</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891F06AE-6E0A-40F5-91BF-DC1A80B84273}"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latin typeface="Times New Roman" panose="02020603050405020304" pitchFamily="18" charset="0"/>
                <a:cs typeface="Times New Roman" panose="02020603050405020304" pitchFamily="18" charset="0"/>
              </a:rPr>
              <a:t>MODEL </a:t>
            </a:r>
            <a:r>
              <a:rPr lang="en-IN" altLang="en-US" dirty="0" smtClean="0">
                <a:latin typeface="Times New Roman" panose="02020603050405020304" pitchFamily="18" charset="0"/>
                <a:cs typeface="Times New Roman" panose="02020603050405020304" pitchFamily="18" charset="0"/>
              </a:rPr>
              <a:t>TRAINING</a:t>
            </a:r>
            <a:endParaRPr lang="en-IN" alt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2500" lnSpcReduction="20000"/>
          </a:bodyPr>
          <a:lstStyle/>
          <a:p>
            <a:pPr algn="just"/>
            <a:r>
              <a:rPr lang="en-US" sz="2900" dirty="0">
                <a:latin typeface="Times New Roman" panose="02020603050405020304" pitchFamily="18" charset="0"/>
                <a:cs typeface="Times New Roman" panose="02020603050405020304" pitchFamily="18" charset="0"/>
              </a:rPr>
              <a:t>A training model is a dataset that is used to train an ML algorithm. It consists of the sample output data and the corresponding sets of input data that have an influence on the output.</a:t>
            </a:r>
          </a:p>
          <a:p>
            <a:pPr algn="just"/>
            <a:r>
              <a:rPr lang="en-US" sz="2900" dirty="0">
                <a:latin typeface="Times New Roman" panose="02020603050405020304" pitchFamily="18" charset="0"/>
                <a:cs typeface="Times New Roman" panose="02020603050405020304" pitchFamily="18" charset="0"/>
              </a:rPr>
              <a:t> The training model is used to run the input data through the algorithm to correlate the processed output against the sample output. The result from this correlation is used to modify the model.</a:t>
            </a:r>
          </a:p>
          <a:p>
            <a:pPr algn="just"/>
            <a:r>
              <a:rPr lang="en-US" sz="2900" dirty="0">
                <a:latin typeface="Times New Roman" panose="02020603050405020304" pitchFamily="18" charset="0"/>
                <a:cs typeface="Times New Roman" panose="02020603050405020304" pitchFamily="18" charset="0"/>
              </a:rPr>
              <a:t>This iterative process is called “model fitting”. The accuracy of the training dataset or the validation dataset is critical for the precision of the model.</a:t>
            </a:r>
          </a:p>
          <a:p>
            <a:pPr algn="just"/>
            <a:r>
              <a:rPr lang="en-US" sz="2900" dirty="0">
                <a:latin typeface="Times New Roman" panose="02020603050405020304" pitchFamily="18" charset="0"/>
                <a:cs typeface="Times New Roman" panose="02020603050405020304" pitchFamily="18" charset="0"/>
              </a:rPr>
              <a:t>Model training in machine language is the process of feeding an ML algorithm with data to help identify and learn good values for all attributes involved. </a:t>
            </a:r>
          </a:p>
          <a:p>
            <a:pPr algn="just"/>
            <a:r>
              <a:rPr lang="en-US" sz="2900" dirty="0">
                <a:latin typeface="Times New Roman" panose="02020603050405020304" pitchFamily="18" charset="0"/>
                <a:cs typeface="Times New Roman" panose="02020603050405020304" pitchFamily="18" charset="0"/>
              </a:rPr>
              <a:t>There are several types of machine learning models, of which the most common ones are supervised and unsupervised learning.</a:t>
            </a:r>
          </a:p>
          <a:p>
            <a:pPr algn="just"/>
            <a:r>
              <a:rPr lang="en-US" sz="29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 this module we use supervised classification algorithms like random forest</a:t>
            </a:r>
            <a:r>
              <a:rPr lang="en-US" sz="2900" dirty="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to train the model on the cleaned dataset after dimensionality reduction.</a:t>
            </a:r>
            <a:endParaRPr lang="en-US" sz="29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076AA59-1B2F-4505-8F6B-C3A1A04AD85D}" type="datetime1">
              <a:rPr lang="en-US" smtClean="0"/>
              <a:pPr/>
              <a:t>4/26/2023</a:t>
            </a:fld>
            <a:endParaRPr lang="en-US"/>
          </a:p>
        </p:txBody>
      </p:sp>
      <p:sp>
        <p:nvSpPr>
          <p:cNvPr id="5" name="Slide Number Placeholder 4"/>
          <p:cNvSpPr>
            <a:spLocks noGrp="1"/>
          </p:cNvSpPr>
          <p:nvPr>
            <p:ph type="sldNum" sz="quarter" idx="12"/>
          </p:nvPr>
        </p:nvSpPr>
        <p:spPr/>
        <p:txBody>
          <a:bodyPr/>
          <a:lstStyle/>
          <a:p>
            <a:fld id="{891F06AE-6E0A-40F5-91BF-DC1A80B84273}" type="slidenum">
              <a:rPr lang="en-US" smtClean="0"/>
              <a:pPr/>
              <a:t>15</a:t>
            </a:fld>
            <a:endParaRPr lang="en-US"/>
          </a:p>
        </p:txBody>
      </p:sp>
      <p:sp>
        <p:nvSpPr>
          <p:cNvPr id="6" name="Footer Placeholder 5"/>
          <p:cNvSpPr>
            <a:spLocks noGrp="1"/>
          </p:cNvSpPr>
          <p:nvPr>
            <p:ph type="ftr" sz="quarter" idx="11"/>
          </p:nvPr>
        </p:nvSpPr>
        <p:spPr/>
        <p:txBody>
          <a:bodyPr/>
          <a:lstStyle/>
          <a:p>
            <a:r>
              <a:rPr lang="en-US"/>
              <a:t>Department of CSE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cision Tree Classification Algorith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1978" y="312253"/>
            <a:ext cx="9878096" cy="5811651"/>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p:cNvSpPr>
            <a:spLocks noGrp="1"/>
          </p:cNvSpPr>
          <p:nvPr>
            <p:ph type="dt" sz="half" idx="10"/>
          </p:nvPr>
        </p:nvSpPr>
        <p:spPr/>
        <p:txBody>
          <a:bodyPr/>
          <a:lstStyle/>
          <a:p>
            <a:fld id="{3B1D7831-79DE-4244-B7D6-9761CEED571B}" type="datetime1">
              <a:rPr lang="en-US" smtClean="0"/>
              <a:pPr/>
              <a:t>4/26/2023</a:t>
            </a:fld>
            <a:endParaRPr lang="en-US"/>
          </a:p>
        </p:txBody>
      </p:sp>
      <p:sp>
        <p:nvSpPr>
          <p:cNvPr id="4" name="Slide Number Placeholder 3"/>
          <p:cNvSpPr>
            <a:spLocks noGrp="1"/>
          </p:cNvSpPr>
          <p:nvPr>
            <p:ph type="sldNum" sz="quarter" idx="12"/>
          </p:nvPr>
        </p:nvSpPr>
        <p:spPr/>
        <p:txBody>
          <a:bodyPr/>
          <a:lstStyle/>
          <a:p>
            <a:fld id="{891F06AE-6E0A-40F5-91BF-DC1A80B84273}" type="slidenum">
              <a:rPr lang="en-US" smtClean="0"/>
              <a:pPr/>
              <a:t>16</a:t>
            </a:fld>
            <a:endParaRPr lang="en-US"/>
          </a:p>
        </p:txBody>
      </p:sp>
      <p:sp>
        <p:nvSpPr>
          <p:cNvPr id="5" name="Footer Placeholder 4"/>
          <p:cNvSpPr>
            <a:spLocks noGrp="1"/>
          </p:cNvSpPr>
          <p:nvPr>
            <p:ph type="ftr" sz="quarter" idx="11"/>
          </p:nvPr>
        </p:nvSpPr>
        <p:spPr/>
        <p:txBody>
          <a:bodyPr/>
          <a:lstStyle/>
          <a:p>
            <a:r>
              <a:rPr lang="en-US"/>
              <a:t>Department of CSE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latin typeface="Times New Roman" panose="02020603050405020304" pitchFamily="18" charset="0"/>
                <a:cs typeface="Times New Roman" panose="02020603050405020304" pitchFamily="18" charset="0"/>
              </a:rPr>
              <a:t>TESTING </a:t>
            </a:r>
            <a:r>
              <a:rPr lang="en-IN" altLang="en-US" dirty="0" smtClean="0">
                <a:latin typeface="Times New Roman" panose="02020603050405020304" pitchFamily="18" charset="0"/>
                <a:cs typeface="Times New Roman" panose="02020603050405020304" pitchFamily="18" charset="0"/>
              </a:rPr>
              <a:t>MODEL</a:t>
            </a:r>
            <a:endParaRPr lang="en-IN" alt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 this module we test the trained machine learning model using the test dataset</a:t>
            </a:r>
          </a:p>
          <a:p>
            <a:r>
              <a:rPr lang="en-US" sz="2400" dirty="0">
                <a:latin typeface="Times New Roman" panose="02020603050405020304" pitchFamily="18" charset="0"/>
                <a:cs typeface="Times New Roman" panose="02020603050405020304" pitchFamily="18" charset="0"/>
              </a:rPr>
              <a:t>Quality assurance is required to make sure that the software system works according to the requirements. Were all the features implemented as agreed? Does the program behave as expected? All the parameters that you test the program against should be stated in the technical specification document.</a:t>
            </a:r>
          </a:p>
          <a:p>
            <a:r>
              <a:rPr lang="en-US" sz="2400" dirty="0">
                <a:latin typeface="Times New Roman" panose="02020603050405020304" pitchFamily="18" charset="0"/>
                <a:cs typeface="Times New Roman" panose="02020603050405020304" pitchFamily="18" charset="0"/>
              </a:rPr>
              <a:t>Moreover, software testing has the power to point out all the defects and flaws during development. You don’t want your clients to encounter bugs after the software is released and come to you waving their fists. Different kinds of testing allow us to catch bugs that are visible only during runtime.</a:t>
            </a:r>
          </a:p>
          <a:p>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EC5F31E-D271-4BB8-993B-DC716B627BBC}" type="datetime1">
              <a:rPr lang="en-US" smtClean="0"/>
              <a:pPr/>
              <a:t>4/26/2023</a:t>
            </a:fld>
            <a:endParaRPr lang="en-US"/>
          </a:p>
        </p:txBody>
      </p:sp>
      <p:sp>
        <p:nvSpPr>
          <p:cNvPr id="5" name="Slide Number Placeholder 4"/>
          <p:cNvSpPr>
            <a:spLocks noGrp="1"/>
          </p:cNvSpPr>
          <p:nvPr>
            <p:ph type="sldNum" sz="quarter" idx="12"/>
          </p:nvPr>
        </p:nvSpPr>
        <p:spPr/>
        <p:txBody>
          <a:bodyPr/>
          <a:lstStyle/>
          <a:p>
            <a:fld id="{891F06AE-6E0A-40F5-91BF-DC1A80B84273}" type="slidenum">
              <a:rPr lang="en-US" smtClean="0"/>
              <a:pPr/>
              <a:t>17</a:t>
            </a:fld>
            <a:endParaRPr lang="en-US"/>
          </a:p>
        </p:txBody>
      </p:sp>
      <p:sp>
        <p:nvSpPr>
          <p:cNvPr id="6" name="Footer Placeholder 5"/>
          <p:cNvSpPr>
            <a:spLocks noGrp="1"/>
          </p:cNvSpPr>
          <p:nvPr>
            <p:ph type="ftr" sz="quarter" idx="11"/>
          </p:nvPr>
        </p:nvSpPr>
        <p:spPr/>
        <p:txBody>
          <a:bodyPr/>
          <a:lstStyle/>
          <a:p>
            <a:r>
              <a:rPr lang="en-US"/>
              <a:t>Department of CSE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smtClean="0">
                <a:latin typeface="Times New Roman" panose="02020603050405020304" pitchFamily="18" charset="0"/>
                <a:cs typeface="Times New Roman" panose="02020603050405020304" pitchFamily="18" charset="0"/>
              </a:rPr>
              <a:t>PREDICTION</a:t>
            </a:r>
            <a:endParaRPr lang="en-IN" alt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4351338"/>
          </a:xfrm>
        </p:spPr>
        <p:txBody>
          <a:bodyPr>
            <a:normAutofit fontScale="55000" lnSpcReduction="20000"/>
          </a:bodyPr>
          <a:lstStyle/>
          <a:p>
            <a:r>
              <a:rPr lang="en-US" sz="3800" dirty="0">
                <a:latin typeface="Times New Roman" panose="02020603050405020304" pitchFamily="18" charset="0"/>
                <a:cs typeface="Times New Roman" panose="02020603050405020304" pitchFamily="18" charset="0"/>
              </a:rPr>
              <a:t>Prediction” refers to the output of an algorithm after it has been trained on a historical dataset and applied to new data when forecasting the likelihood of a particular outcome, such as whether or not a customer will churn in 30 days.</a:t>
            </a:r>
          </a:p>
          <a:p>
            <a:r>
              <a:rPr lang="en-US" sz="3800" dirty="0">
                <a:latin typeface="Times New Roman" panose="02020603050405020304" pitchFamily="18" charset="0"/>
                <a:cs typeface="Times New Roman" panose="02020603050405020304" pitchFamily="18" charset="0"/>
              </a:rPr>
              <a:t> The algorithm will generate probable values for an unknown variable for each record in the new data, allowing the model builder to identify what that value will most likely be.</a:t>
            </a:r>
          </a:p>
          <a:p>
            <a:r>
              <a:rPr lang="en-US" sz="3800" dirty="0">
                <a:latin typeface="Times New Roman" panose="02020603050405020304" pitchFamily="18" charset="0"/>
                <a:cs typeface="Times New Roman" panose="02020603050405020304" pitchFamily="18" charset="0"/>
              </a:rPr>
              <a:t>The word “prediction” can be misleading. In some cases, it really does mean that you are predicting a future outcome, such as when you’re using machine learning to determine the next best action in a marketing campaign.</a:t>
            </a:r>
          </a:p>
          <a:p>
            <a:r>
              <a:rPr lang="en-US" sz="3800" dirty="0">
                <a:latin typeface="Times New Roman" panose="02020603050405020304" pitchFamily="18" charset="0"/>
                <a:cs typeface="Times New Roman" panose="02020603050405020304" pitchFamily="18" charset="0"/>
              </a:rPr>
              <a:t> Other times, though, the “prediction” has to do with, for example, whether or not a transaction that already occurred was fraudulent.</a:t>
            </a:r>
          </a:p>
          <a:p>
            <a:r>
              <a:rPr lang="en-US" sz="3800" dirty="0">
                <a:latin typeface="Times New Roman" panose="02020603050405020304" pitchFamily="18" charset="0"/>
                <a:cs typeface="Times New Roman" panose="02020603050405020304" pitchFamily="18" charset="0"/>
              </a:rPr>
              <a:t> In that case, the transaction already happened, but you’re making an educated guess about whether or not it was legitimate, allowing you to take the appropriate action.</a:t>
            </a:r>
          </a:p>
          <a:p>
            <a:r>
              <a:rPr lang="en-US" sz="3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 this module we use trained and optimized machine learning model to predict whether the patient the divers case asking some questions .</a:t>
            </a:r>
            <a:endParaRPr lang="en-US" sz="3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07B3325-6083-4490-9C8A-3179C459B856}" type="datetime1">
              <a:rPr lang="en-US" smtClean="0"/>
              <a:pPr/>
              <a:t>4/26/2023</a:t>
            </a:fld>
            <a:endParaRPr lang="en-US"/>
          </a:p>
        </p:txBody>
      </p:sp>
      <p:sp>
        <p:nvSpPr>
          <p:cNvPr id="5" name="Slide Number Placeholder 4"/>
          <p:cNvSpPr>
            <a:spLocks noGrp="1"/>
          </p:cNvSpPr>
          <p:nvPr>
            <p:ph type="sldNum" sz="quarter" idx="12"/>
          </p:nvPr>
        </p:nvSpPr>
        <p:spPr/>
        <p:txBody>
          <a:bodyPr/>
          <a:lstStyle/>
          <a:p>
            <a:fld id="{891F06AE-6E0A-40F5-91BF-DC1A80B84273}" type="slidenum">
              <a:rPr lang="en-US" smtClean="0"/>
              <a:pPr/>
              <a:t>18</a:t>
            </a:fld>
            <a:endParaRPr lang="en-US"/>
          </a:p>
        </p:txBody>
      </p:sp>
      <p:sp>
        <p:nvSpPr>
          <p:cNvPr id="6" name="Footer Placeholder 5"/>
          <p:cNvSpPr>
            <a:spLocks noGrp="1"/>
          </p:cNvSpPr>
          <p:nvPr>
            <p:ph type="ftr" sz="quarter" idx="11"/>
          </p:nvPr>
        </p:nvSpPr>
        <p:spPr/>
        <p:txBody>
          <a:bodyPr/>
          <a:lstStyle/>
          <a:p>
            <a:r>
              <a:rPr lang="en-US"/>
              <a:t>Department of CSE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0883"/>
            <a:ext cx="10515600" cy="1325563"/>
          </a:xfrm>
        </p:spPr>
        <p:txBody>
          <a:bodyPr/>
          <a:lstStyle/>
          <a:p>
            <a:r>
              <a:rPr lang="en-US" dirty="0">
                <a:solidFill>
                  <a:srgbClr val="202124"/>
                </a:solidFill>
                <a:latin typeface="Arial" panose="020B0604020202020204" pitchFamily="34" charset="0"/>
                <a:cs typeface="Arial" panose="020B0604020202020204" pitchFamily="34" charset="0"/>
              </a:rPr>
              <a:t> </a:t>
            </a:r>
            <a:r>
              <a:rPr lang="en-IN" altLang="en-US" dirty="0">
                <a:solidFill>
                  <a:srgbClr val="202124"/>
                </a:solidFill>
                <a:latin typeface="Times New Roman" panose="02020603050405020304" pitchFamily="18" charset="0"/>
                <a:cs typeface="Times New Roman" panose="02020603050405020304" pitchFamily="18" charset="0"/>
              </a:rPr>
              <a:t>GENETIC </a:t>
            </a:r>
            <a:r>
              <a:rPr lang="en-IN" altLang="en-US" dirty="0" smtClean="0">
                <a:solidFill>
                  <a:srgbClr val="202124"/>
                </a:solidFill>
                <a:latin typeface="Times New Roman" panose="02020603050405020304" pitchFamily="18" charset="0"/>
                <a:cs typeface="Times New Roman" panose="02020603050405020304" pitchFamily="18" charset="0"/>
              </a:rPr>
              <a:t>ALGORITHMS</a:t>
            </a:r>
            <a:endParaRPr lang="en-IN" altLang="en-US" dirty="0">
              <a:solidFill>
                <a:srgbClr val="202124"/>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eaLnBrk="0" fontAlgn="t" hangingPunct="0">
              <a:lnSpc>
                <a:spcPct val="100000"/>
              </a:lnSpc>
              <a:spcBef>
                <a:spcPct val="0"/>
              </a:spcBef>
              <a:spcAft>
                <a:spcPct val="0"/>
              </a:spcAft>
            </a:pPr>
            <a:r>
              <a:rPr lang="en-US" sz="2400" dirty="0">
                <a:solidFill>
                  <a:srgbClr val="202124"/>
                </a:solidFill>
                <a:latin typeface="Times New Roman" panose="02020603050405020304" pitchFamily="18" charset="0"/>
                <a:cs typeface="Times New Roman" panose="02020603050405020304" pitchFamily="18" charset="0"/>
              </a:rPr>
              <a:t>Genetic algorithms are commonly used to </a:t>
            </a:r>
            <a:r>
              <a:rPr lang="en-US" sz="2400" b="1" dirty="0">
                <a:solidFill>
                  <a:srgbClr val="202124"/>
                </a:solidFill>
                <a:latin typeface="Times New Roman" panose="02020603050405020304" pitchFamily="18" charset="0"/>
                <a:cs typeface="Times New Roman" panose="02020603050405020304" pitchFamily="18" charset="0"/>
              </a:rPr>
              <a:t>generate high-quality solutions to optimization and search problems</a:t>
            </a:r>
            <a:r>
              <a:rPr lang="en-US" sz="2400" dirty="0">
                <a:solidFill>
                  <a:srgbClr val="202124"/>
                </a:solidFill>
                <a:latin typeface="Times New Roman" panose="02020603050405020304" pitchFamily="18" charset="0"/>
                <a:cs typeface="Times New Roman" panose="02020603050405020304" pitchFamily="18" charset="0"/>
              </a:rPr>
              <a:t> by relying on biologically inspired operators such as mutation, crossover and selection.</a:t>
            </a:r>
          </a:p>
          <a:p>
            <a:r>
              <a:rPr lang="en-US" sz="2400" dirty="0">
                <a:latin typeface="Times New Roman" panose="02020603050405020304" pitchFamily="18" charset="0"/>
                <a:cs typeface="Times New Roman" panose="02020603050405020304" pitchFamily="18" charset="0"/>
              </a:rPr>
              <a:t>Genetic algorithms are </a:t>
            </a:r>
            <a:r>
              <a:rPr lang="en-US" sz="2400" b="1" dirty="0">
                <a:latin typeface="Times New Roman" panose="02020603050405020304" pitchFamily="18" charset="0"/>
                <a:cs typeface="Times New Roman" panose="02020603050405020304" pitchFamily="18" charset="0"/>
              </a:rPr>
              <a:t>used in artificial intelligence</a:t>
            </a:r>
            <a:r>
              <a:rPr lang="en-US" sz="2400" dirty="0">
                <a:latin typeface="Times New Roman" panose="02020603050405020304" pitchFamily="18" charset="0"/>
                <a:cs typeface="Times New Roman" panose="02020603050405020304" pitchFamily="18" charset="0"/>
              </a:rPr>
              <a:t> like other search algorithms are used in artificial intelligence  to search a space of potential solutions to find one which solves the problem</a:t>
            </a:r>
          </a:p>
          <a:p>
            <a:r>
              <a:rPr lang="en-US" sz="2400" dirty="0">
                <a:latin typeface="Times New Roman" panose="02020603050405020304" pitchFamily="18" charset="0"/>
                <a:cs typeface="Times New Roman" panose="02020603050405020304" pitchFamily="18" charset="0"/>
              </a:rPr>
              <a:t>“Genetic Algorithms are </a:t>
            </a:r>
            <a:r>
              <a:rPr lang="en-US" sz="2400" b="1" dirty="0">
                <a:latin typeface="Times New Roman" panose="02020603050405020304" pitchFamily="18" charset="0"/>
                <a:cs typeface="Times New Roman" panose="02020603050405020304" pitchFamily="18" charset="0"/>
              </a:rPr>
              <a:t>good at taking large</a:t>
            </a:r>
            <a:r>
              <a:rPr lang="en-US" sz="2400" dirty="0">
                <a:latin typeface="Times New Roman" panose="02020603050405020304" pitchFamily="18" charset="0"/>
                <a:cs typeface="Times New Roman" panose="02020603050405020304" pitchFamily="18" charset="0"/>
              </a:rPr>
              <a:t>, potentially huge search spaces and navigating them, looking for optimal combinations of things, solutions you might not otherwise find in a lifetime.”</a:t>
            </a:r>
          </a:p>
          <a:p>
            <a:pPr marL="0" indent="0" eaLnBrk="0" fontAlgn="t" hangingPunct="0">
              <a:lnSpc>
                <a:spcPct val="100000"/>
              </a:lnSpc>
              <a:spcBef>
                <a:spcPct val="0"/>
              </a:spcBef>
              <a:spcAft>
                <a:spcPct val="0"/>
              </a:spcAft>
              <a:buNone/>
            </a:pPr>
            <a:endParaRPr lang="en-US" sz="2400" dirty="0">
              <a:solidFill>
                <a:srgbClr val="1A0DAB"/>
              </a:solidFill>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a:off x="0" y="-247469"/>
            <a:ext cx="65"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7916" rIns="0" bIns="107916"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dirty="0">
              <a:ln>
                <a:noFill/>
              </a:ln>
              <a:solidFill>
                <a:srgbClr val="1A0DAB"/>
              </a:solidFill>
              <a:effectLst/>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p:txBody>
          <a:bodyPr/>
          <a:lstStyle/>
          <a:p>
            <a:fld id="{D735BB20-95FB-4495-B98C-1A4E06C61375}" type="datetime1">
              <a:rPr lang="en-US" smtClean="0"/>
              <a:pPr/>
              <a:t>4/26/2023</a:t>
            </a:fld>
            <a:endParaRPr lang="en-US"/>
          </a:p>
        </p:txBody>
      </p:sp>
      <p:sp>
        <p:nvSpPr>
          <p:cNvPr id="6" name="Slide Number Placeholder 5"/>
          <p:cNvSpPr>
            <a:spLocks noGrp="1"/>
          </p:cNvSpPr>
          <p:nvPr>
            <p:ph type="sldNum" sz="quarter" idx="12"/>
          </p:nvPr>
        </p:nvSpPr>
        <p:spPr/>
        <p:txBody>
          <a:bodyPr/>
          <a:lstStyle/>
          <a:p>
            <a:fld id="{891F06AE-6E0A-40F5-91BF-DC1A80B84273}" type="slidenum">
              <a:rPr lang="en-US" smtClean="0"/>
              <a:pPr/>
              <a:t>19</a:t>
            </a:fld>
            <a:endParaRPr lang="en-US"/>
          </a:p>
        </p:txBody>
      </p:sp>
      <p:sp>
        <p:nvSpPr>
          <p:cNvPr id="7" name="Footer Placeholder 6"/>
          <p:cNvSpPr>
            <a:spLocks noGrp="1"/>
          </p:cNvSpPr>
          <p:nvPr>
            <p:ph type="ftr" sz="quarter" idx="11"/>
          </p:nvPr>
        </p:nvSpPr>
        <p:spPr/>
        <p:txBody>
          <a:bodyPr/>
          <a:lstStyle/>
          <a:p>
            <a:r>
              <a:rPr lang="en-US"/>
              <a:t>Department of CSE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GENETIC ALGORITHM WORKFLOW</a:t>
            </a:r>
            <a:endParaRPr lang="en-US" dirty="0">
              <a:latin typeface="Times New Roman" panose="02020603050405020304" pitchFamily="18" charset="0"/>
              <a:cs typeface="Times New Roman" panose="02020603050405020304" pitchFamily="18" charset="0"/>
            </a:endParaRP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00215" y="1847850"/>
            <a:ext cx="4114800" cy="4351338"/>
          </a:xfrm>
        </p:spPr>
      </p:pic>
      <p:sp>
        <p:nvSpPr>
          <p:cNvPr id="4" name="Date Placeholder 3"/>
          <p:cNvSpPr>
            <a:spLocks noGrp="1"/>
          </p:cNvSpPr>
          <p:nvPr>
            <p:ph type="dt" sz="half" idx="10"/>
          </p:nvPr>
        </p:nvSpPr>
        <p:spPr/>
        <p:txBody>
          <a:bodyPr/>
          <a:lstStyle/>
          <a:p>
            <a:fld id="{C2183710-FD27-4477-88A8-A6C46BCA0A66}" type="datetime1">
              <a:rPr lang="en-US" smtClean="0"/>
              <a:pPr/>
              <a:t>4/26/2023</a:t>
            </a:fld>
            <a:endParaRPr lang="en-US"/>
          </a:p>
        </p:txBody>
      </p:sp>
      <p:sp>
        <p:nvSpPr>
          <p:cNvPr id="5" name="Footer Placeholder 4"/>
          <p:cNvSpPr>
            <a:spLocks noGrp="1"/>
          </p:cNvSpPr>
          <p:nvPr>
            <p:ph type="ftr" sz="quarter" idx="11"/>
          </p:nvPr>
        </p:nvSpPr>
        <p:spPr/>
        <p:txBody>
          <a:bodyPr/>
          <a:lstStyle/>
          <a:p>
            <a:r>
              <a:rPr lang="en-US" smtClean="0"/>
              <a:t>Department of CSE</a:t>
            </a:r>
            <a:endParaRPr lang="en-US"/>
          </a:p>
        </p:txBody>
      </p:sp>
      <p:sp>
        <p:nvSpPr>
          <p:cNvPr id="6" name="Slide Number Placeholder 5"/>
          <p:cNvSpPr>
            <a:spLocks noGrp="1"/>
          </p:cNvSpPr>
          <p:nvPr>
            <p:ph type="sldNum" sz="quarter" idx="12"/>
          </p:nvPr>
        </p:nvSpPr>
        <p:spPr/>
        <p:txBody>
          <a:bodyPr/>
          <a:lstStyle/>
          <a:p>
            <a:fld id="{891F06AE-6E0A-40F5-91BF-DC1A80B84273}" type="slidenum">
              <a:rPr lang="en-US" smtClean="0"/>
              <a:pPr/>
              <a:t>20</a:t>
            </a:fld>
            <a:endParaRPr lang="en-US"/>
          </a:p>
        </p:txBody>
      </p:sp>
    </p:spTree>
    <p:extLst>
      <p:ext uri="{BB962C8B-B14F-4D97-AF65-F5344CB8AC3E}">
        <p14:creationId xmlns:p14="http://schemas.microsoft.com/office/powerpoint/2010/main" val="2938295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APPLICATION SCREENSHOTS </a:t>
            </a: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2183710-FD27-4477-88A8-A6C46BCA0A66}" type="datetime1">
              <a:rPr lang="en-US" smtClean="0"/>
              <a:pPr/>
              <a:t>4/26/2023</a:t>
            </a:fld>
            <a:endParaRPr lang="en-US"/>
          </a:p>
        </p:txBody>
      </p:sp>
      <p:sp>
        <p:nvSpPr>
          <p:cNvPr id="5" name="Footer Placeholder 4"/>
          <p:cNvSpPr>
            <a:spLocks noGrp="1"/>
          </p:cNvSpPr>
          <p:nvPr>
            <p:ph type="ftr" sz="quarter" idx="11"/>
          </p:nvPr>
        </p:nvSpPr>
        <p:spPr/>
        <p:txBody>
          <a:bodyPr/>
          <a:lstStyle/>
          <a:p>
            <a:r>
              <a:rPr lang="en-US" smtClean="0"/>
              <a:t>Department of CSE</a:t>
            </a:r>
            <a:endParaRPr lang="en-US"/>
          </a:p>
        </p:txBody>
      </p:sp>
      <p:sp>
        <p:nvSpPr>
          <p:cNvPr id="6" name="Slide Number Placeholder 5"/>
          <p:cNvSpPr>
            <a:spLocks noGrp="1"/>
          </p:cNvSpPr>
          <p:nvPr>
            <p:ph type="sldNum" sz="quarter" idx="12"/>
          </p:nvPr>
        </p:nvSpPr>
        <p:spPr/>
        <p:txBody>
          <a:bodyPr/>
          <a:lstStyle/>
          <a:p>
            <a:fld id="{891F06AE-6E0A-40F5-91BF-DC1A80B84273}" type="slidenum">
              <a:rPr lang="en-US" smtClean="0"/>
              <a:pPr/>
              <a:t>21</a:t>
            </a:fld>
            <a:endParaRPr lang="en-US"/>
          </a:p>
        </p:txBody>
      </p:sp>
      <p:pic>
        <p:nvPicPr>
          <p:cNvPr id="7" name="image19.jpeg"/>
          <p:cNvPicPr>
            <a:picLocks noGrp="1"/>
          </p:cNvPicPr>
          <p:nvPr>
            <p:ph idx="1"/>
          </p:nvPr>
        </p:nvPicPr>
        <p:blipFill>
          <a:blip r:embed="rId2" cstate="print"/>
          <a:stretch>
            <a:fillRect/>
          </a:stretch>
        </p:blipFill>
        <p:spPr>
          <a:xfrm>
            <a:off x="1592318" y="1825625"/>
            <a:ext cx="9254358" cy="4351338"/>
          </a:xfrm>
          <a:prstGeom prst="rect">
            <a:avLst/>
          </a:prstGeom>
        </p:spPr>
      </p:pic>
    </p:spTree>
    <p:extLst>
      <p:ext uri="{BB962C8B-B14F-4D97-AF65-F5344CB8AC3E}">
        <p14:creationId xmlns:p14="http://schemas.microsoft.com/office/powerpoint/2010/main" val="1552296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0361D1-B550-4F2E-9B95-50B9E9B41FFD}" type="datetime1">
              <a:rPr lang="en-US" smtClean="0"/>
              <a:pPr/>
              <a:t>4/26/2023</a:t>
            </a:fld>
            <a:endParaRPr lang="en-US"/>
          </a:p>
        </p:txBody>
      </p:sp>
      <p:sp>
        <p:nvSpPr>
          <p:cNvPr id="3" name="Footer Placeholder 2"/>
          <p:cNvSpPr>
            <a:spLocks noGrp="1"/>
          </p:cNvSpPr>
          <p:nvPr>
            <p:ph type="ftr" sz="quarter" idx="11"/>
          </p:nvPr>
        </p:nvSpPr>
        <p:spPr/>
        <p:txBody>
          <a:bodyPr/>
          <a:lstStyle/>
          <a:p>
            <a:r>
              <a:rPr lang="en-US" smtClean="0"/>
              <a:t>Department of CSE</a:t>
            </a:r>
            <a:endParaRPr lang="en-US"/>
          </a:p>
        </p:txBody>
      </p:sp>
      <p:sp>
        <p:nvSpPr>
          <p:cNvPr id="4" name="Slide Number Placeholder 3"/>
          <p:cNvSpPr>
            <a:spLocks noGrp="1"/>
          </p:cNvSpPr>
          <p:nvPr>
            <p:ph type="sldNum" sz="quarter" idx="12"/>
          </p:nvPr>
        </p:nvSpPr>
        <p:spPr/>
        <p:txBody>
          <a:bodyPr/>
          <a:lstStyle/>
          <a:p>
            <a:fld id="{891F06AE-6E0A-40F5-91BF-DC1A80B84273}" type="slidenum">
              <a:rPr lang="en-US" smtClean="0"/>
              <a:pPr/>
              <a:t>22</a:t>
            </a:fld>
            <a:endParaRPr lang="en-US"/>
          </a:p>
        </p:txBody>
      </p:sp>
      <p:pic>
        <p:nvPicPr>
          <p:cNvPr id="5" name="image20.jpeg"/>
          <p:cNvPicPr/>
          <p:nvPr/>
        </p:nvPicPr>
        <p:blipFill>
          <a:blip r:embed="rId2" cstate="print"/>
          <a:stretch>
            <a:fillRect/>
          </a:stretch>
        </p:blipFill>
        <p:spPr>
          <a:xfrm>
            <a:off x="838200" y="504498"/>
            <a:ext cx="10515599" cy="5297212"/>
          </a:xfrm>
          <a:prstGeom prst="rect">
            <a:avLst/>
          </a:prstGeom>
        </p:spPr>
      </p:pic>
    </p:spTree>
    <p:extLst>
      <p:ext uri="{BB962C8B-B14F-4D97-AF65-F5344CB8AC3E}">
        <p14:creationId xmlns:p14="http://schemas.microsoft.com/office/powerpoint/2010/main" val="11438146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0361D1-B550-4F2E-9B95-50B9E9B41FFD}" type="datetime1">
              <a:rPr lang="en-US" smtClean="0"/>
              <a:pPr/>
              <a:t>4/26/2023</a:t>
            </a:fld>
            <a:endParaRPr lang="en-US"/>
          </a:p>
        </p:txBody>
      </p:sp>
      <p:sp>
        <p:nvSpPr>
          <p:cNvPr id="3" name="Footer Placeholder 2"/>
          <p:cNvSpPr>
            <a:spLocks noGrp="1"/>
          </p:cNvSpPr>
          <p:nvPr>
            <p:ph type="ftr" sz="quarter" idx="11"/>
          </p:nvPr>
        </p:nvSpPr>
        <p:spPr/>
        <p:txBody>
          <a:bodyPr/>
          <a:lstStyle/>
          <a:p>
            <a:r>
              <a:rPr lang="en-US" smtClean="0"/>
              <a:t>Department of CSE</a:t>
            </a:r>
            <a:endParaRPr lang="en-US"/>
          </a:p>
        </p:txBody>
      </p:sp>
      <p:sp>
        <p:nvSpPr>
          <p:cNvPr id="4" name="Slide Number Placeholder 3"/>
          <p:cNvSpPr>
            <a:spLocks noGrp="1"/>
          </p:cNvSpPr>
          <p:nvPr>
            <p:ph type="sldNum" sz="quarter" idx="12"/>
          </p:nvPr>
        </p:nvSpPr>
        <p:spPr/>
        <p:txBody>
          <a:bodyPr/>
          <a:lstStyle/>
          <a:p>
            <a:fld id="{891F06AE-6E0A-40F5-91BF-DC1A80B84273}" type="slidenum">
              <a:rPr lang="en-US" smtClean="0"/>
              <a:pPr/>
              <a:t>23</a:t>
            </a:fld>
            <a:endParaRPr lang="en-US"/>
          </a:p>
        </p:txBody>
      </p:sp>
      <p:pic>
        <p:nvPicPr>
          <p:cNvPr id="5" name="image21.jpeg"/>
          <p:cNvPicPr/>
          <p:nvPr/>
        </p:nvPicPr>
        <p:blipFill>
          <a:blip r:embed="rId2" cstate="print"/>
          <a:stretch>
            <a:fillRect/>
          </a:stretch>
        </p:blipFill>
        <p:spPr>
          <a:xfrm>
            <a:off x="838201" y="709448"/>
            <a:ext cx="10515600" cy="5218386"/>
          </a:xfrm>
          <a:prstGeom prst="rect">
            <a:avLst/>
          </a:prstGeom>
        </p:spPr>
      </p:pic>
    </p:spTree>
    <p:extLst>
      <p:ext uri="{BB962C8B-B14F-4D97-AF65-F5344CB8AC3E}">
        <p14:creationId xmlns:p14="http://schemas.microsoft.com/office/powerpoint/2010/main" val="4023854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0361D1-B550-4F2E-9B95-50B9E9B41FFD}" type="datetime1">
              <a:rPr lang="en-US" smtClean="0"/>
              <a:pPr/>
              <a:t>4/26/2023</a:t>
            </a:fld>
            <a:endParaRPr lang="en-US"/>
          </a:p>
        </p:txBody>
      </p:sp>
      <p:sp>
        <p:nvSpPr>
          <p:cNvPr id="3" name="Footer Placeholder 2"/>
          <p:cNvSpPr>
            <a:spLocks noGrp="1"/>
          </p:cNvSpPr>
          <p:nvPr>
            <p:ph type="ftr" sz="quarter" idx="11"/>
          </p:nvPr>
        </p:nvSpPr>
        <p:spPr/>
        <p:txBody>
          <a:bodyPr/>
          <a:lstStyle/>
          <a:p>
            <a:r>
              <a:rPr lang="en-US" smtClean="0"/>
              <a:t>Department of CSE</a:t>
            </a:r>
            <a:endParaRPr lang="en-US"/>
          </a:p>
        </p:txBody>
      </p:sp>
      <p:sp>
        <p:nvSpPr>
          <p:cNvPr id="4" name="Slide Number Placeholder 3"/>
          <p:cNvSpPr>
            <a:spLocks noGrp="1"/>
          </p:cNvSpPr>
          <p:nvPr>
            <p:ph type="sldNum" sz="quarter" idx="12"/>
          </p:nvPr>
        </p:nvSpPr>
        <p:spPr/>
        <p:txBody>
          <a:bodyPr/>
          <a:lstStyle/>
          <a:p>
            <a:fld id="{891F06AE-6E0A-40F5-91BF-DC1A80B84273}" type="slidenum">
              <a:rPr lang="en-US" smtClean="0"/>
              <a:pPr/>
              <a:t>24</a:t>
            </a:fld>
            <a:endParaRPr lang="en-US"/>
          </a:p>
        </p:txBody>
      </p:sp>
      <p:pic>
        <p:nvPicPr>
          <p:cNvPr id="5" name="image22.jpeg"/>
          <p:cNvPicPr/>
          <p:nvPr/>
        </p:nvPicPr>
        <p:blipFill>
          <a:blip r:embed="rId2" cstate="print"/>
          <a:stretch>
            <a:fillRect/>
          </a:stretch>
        </p:blipFill>
        <p:spPr>
          <a:xfrm>
            <a:off x="838200" y="551794"/>
            <a:ext cx="10515600" cy="5675586"/>
          </a:xfrm>
          <a:prstGeom prst="rect">
            <a:avLst/>
          </a:prstGeom>
        </p:spPr>
      </p:pic>
    </p:spTree>
    <p:extLst>
      <p:ext uri="{BB962C8B-B14F-4D97-AF65-F5344CB8AC3E}">
        <p14:creationId xmlns:p14="http://schemas.microsoft.com/office/powerpoint/2010/main" val="25123253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0361D1-B550-4F2E-9B95-50B9E9B41FFD}" type="datetime1">
              <a:rPr lang="en-US" smtClean="0"/>
              <a:pPr/>
              <a:t>4/26/2023</a:t>
            </a:fld>
            <a:endParaRPr lang="en-US"/>
          </a:p>
        </p:txBody>
      </p:sp>
      <p:sp>
        <p:nvSpPr>
          <p:cNvPr id="3" name="Footer Placeholder 2"/>
          <p:cNvSpPr>
            <a:spLocks noGrp="1"/>
          </p:cNvSpPr>
          <p:nvPr>
            <p:ph type="ftr" sz="quarter" idx="11"/>
          </p:nvPr>
        </p:nvSpPr>
        <p:spPr/>
        <p:txBody>
          <a:bodyPr/>
          <a:lstStyle/>
          <a:p>
            <a:r>
              <a:rPr lang="en-US" smtClean="0"/>
              <a:t>Department of CSE</a:t>
            </a:r>
            <a:endParaRPr lang="en-US"/>
          </a:p>
        </p:txBody>
      </p:sp>
      <p:sp>
        <p:nvSpPr>
          <p:cNvPr id="4" name="Slide Number Placeholder 3"/>
          <p:cNvSpPr>
            <a:spLocks noGrp="1"/>
          </p:cNvSpPr>
          <p:nvPr>
            <p:ph type="sldNum" sz="quarter" idx="12"/>
          </p:nvPr>
        </p:nvSpPr>
        <p:spPr/>
        <p:txBody>
          <a:bodyPr/>
          <a:lstStyle/>
          <a:p>
            <a:fld id="{891F06AE-6E0A-40F5-91BF-DC1A80B84273}" type="slidenum">
              <a:rPr lang="en-US" smtClean="0"/>
              <a:pPr/>
              <a:t>25</a:t>
            </a:fld>
            <a:endParaRPr lang="en-US"/>
          </a:p>
        </p:txBody>
      </p:sp>
      <p:pic>
        <p:nvPicPr>
          <p:cNvPr id="5" name="image24.jpeg"/>
          <p:cNvPicPr/>
          <p:nvPr/>
        </p:nvPicPr>
        <p:blipFill>
          <a:blip r:embed="rId2" cstate="print"/>
          <a:stretch>
            <a:fillRect/>
          </a:stretch>
        </p:blipFill>
        <p:spPr>
          <a:xfrm>
            <a:off x="838200" y="567560"/>
            <a:ext cx="10515600" cy="5328744"/>
          </a:xfrm>
          <a:prstGeom prst="rect">
            <a:avLst/>
          </a:prstGeom>
        </p:spPr>
      </p:pic>
    </p:spTree>
    <p:extLst>
      <p:ext uri="{BB962C8B-B14F-4D97-AF65-F5344CB8AC3E}">
        <p14:creationId xmlns:p14="http://schemas.microsoft.com/office/powerpoint/2010/main" val="27999698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CODE</a:t>
            </a:r>
            <a:endParaRPr lang="en-US" dirty="0">
              <a:latin typeface="Times New Roman" panose="02020603050405020304" pitchFamily="18" charset="0"/>
              <a:cs typeface="Times New Roman" panose="02020603050405020304" pitchFamily="18" charset="0"/>
            </a:endParaRP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25625"/>
            <a:ext cx="8938189" cy="4351338"/>
          </a:xfrm>
        </p:spPr>
      </p:pic>
      <p:sp>
        <p:nvSpPr>
          <p:cNvPr id="4" name="Date Placeholder 3"/>
          <p:cNvSpPr>
            <a:spLocks noGrp="1"/>
          </p:cNvSpPr>
          <p:nvPr>
            <p:ph type="dt" sz="half" idx="10"/>
          </p:nvPr>
        </p:nvSpPr>
        <p:spPr/>
        <p:txBody>
          <a:bodyPr/>
          <a:lstStyle/>
          <a:p>
            <a:fld id="{C2183710-FD27-4477-88A8-A6C46BCA0A66}" type="datetime1">
              <a:rPr lang="en-US" smtClean="0"/>
              <a:pPr/>
              <a:t>4/26/2023</a:t>
            </a:fld>
            <a:endParaRPr lang="en-US"/>
          </a:p>
        </p:txBody>
      </p:sp>
      <p:sp>
        <p:nvSpPr>
          <p:cNvPr id="5" name="Footer Placeholder 4"/>
          <p:cNvSpPr>
            <a:spLocks noGrp="1"/>
          </p:cNvSpPr>
          <p:nvPr>
            <p:ph type="ftr" sz="quarter" idx="11"/>
          </p:nvPr>
        </p:nvSpPr>
        <p:spPr/>
        <p:txBody>
          <a:bodyPr/>
          <a:lstStyle/>
          <a:p>
            <a:r>
              <a:rPr lang="en-US" smtClean="0"/>
              <a:t>Department of CSE</a:t>
            </a:r>
            <a:endParaRPr lang="en-US"/>
          </a:p>
        </p:txBody>
      </p:sp>
      <p:sp>
        <p:nvSpPr>
          <p:cNvPr id="6" name="Slide Number Placeholder 5"/>
          <p:cNvSpPr>
            <a:spLocks noGrp="1"/>
          </p:cNvSpPr>
          <p:nvPr>
            <p:ph type="sldNum" sz="quarter" idx="12"/>
          </p:nvPr>
        </p:nvSpPr>
        <p:spPr/>
        <p:txBody>
          <a:bodyPr/>
          <a:lstStyle/>
          <a:p>
            <a:fld id="{891F06AE-6E0A-40F5-91BF-DC1A80B84273}" type="slidenum">
              <a:rPr lang="en-US" smtClean="0"/>
              <a:pPr/>
              <a:t>26</a:t>
            </a:fld>
            <a:endParaRPr lang="en-US"/>
          </a:p>
        </p:txBody>
      </p:sp>
    </p:spTree>
    <p:extLst>
      <p:ext uri="{BB962C8B-B14F-4D97-AF65-F5344CB8AC3E}">
        <p14:creationId xmlns:p14="http://schemas.microsoft.com/office/powerpoint/2010/main" val="4149049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0361D1-B550-4F2E-9B95-50B9E9B41FFD}" type="datetime1">
              <a:rPr lang="en-US" smtClean="0"/>
              <a:pPr/>
              <a:t>4/26/2023</a:t>
            </a:fld>
            <a:endParaRPr lang="en-US"/>
          </a:p>
        </p:txBody>
      </p:sp>
      <p:sp>
        <p:nvSpPr>
          <p:cNvPr id="3" name="Footer Placeholder 2"/>
          <p:cNvSpPr>
            <a:spLocks noGrp="1"/>
          </p:cNvSpPr>
          <p:nvPr>
            <p:ph type="ftr" sz="quarter" idx="11"/>
          </p:nvPr>
        </p:nvSpPr>
        <p:spPr/>
        <p:txBody>
          <a:bodyPr/>
          <a:lstStyle/>
          <a:p>
            <a:r>
              <a:rPr lang="en-US" smtClean="0"/>
              <a:t>Department of CSE</a:t>
            </a:r>
            <a:endParaRPr lang="en-US"/>
          </a:p>
        </p:txBody>
      </p:sp>
      <p:sp>
        <p:nvSpPr>
          <p:cNvPr id="4" name="Slide Number Placeholder 3"/>
          <p:cNvSpPr>
            <a:spLocks noGrp="1"/>
          </p:cNvSpPr>
          <p:nvPr>
            <p:ph type="sldNum" sz="quarter" idx="12"/>
          </p:nvPr>
        </p:nvSpPr>
        <p:spPr/>
        <p:txBody>
          <a:bodyPr/>
          <a:lstStyle/>
          <a:p>
            <a:fld id="{891F06AE-6E0A-40F5-91BF-DC1A80B84273}" type="slidenum">
              <a:rPr lang="en-US" smtClean="0"/>
              <a:pPr/>
              <a:t>27</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92167"/>
            <a:ext cx="8767273" cy="6073666"/>
          </a:xfrm>
          <a:prstGeom prst="rect">
            <a:avLst/>
          </a:prstGeom>
        </p:spPr>
      </p:pic>
    </p:spTree>
    <p:extLst>
      <p:ext uri="{BB962C8B-B14F-4D97-AF65-F5344CB8AC3E}">
        <p14:creationId xmlns:p14="http://schemas.microsoft.com/office/powerpoint/2010/main" val="650137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CONCLUSION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Network traffic logs to describe patterns of behavior in network traffic accident with intrusive or normal activity.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Decision </a:t>
            </a:r>
            <a:r>
              <a:rPr lang="en-US" sz="2400" dirty="0">
                <a:latin typeface="Times New Roman" panose="02020603050405020304" pitchFamily="18" charset="0"/>
                <a:cs typeface="Times New Roman" panose="02020603050405020304" pitchFamily="18" charset="0"/>
              </a:rPr>
              <a:t>tree technique is good for the intrusion characteristic of the network traffic logs for security attack and implemented in the genetic algorithm as prevention.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other hand, this technique is also good efficiency and optimize rule for the security attack rules such as avoid redundancy.</a:t>
            </a:r>
          </a:p>
        </p:txBody>
      </p:sp>
      <p:sp>
        <p:nvSpPr>
          <p:cNvPr id="4" name="Date Placeholder 3"/>
          <p:cNvSpPr>
            <a:spLocks noGrp="1"/>
          </p:cNvSpPr>
          <p:nvPr>
            <p:ph type="dt" sz="half" idx="10"/>
          </p:nvPr>
        </p:nvSpPr>
        <p:spPr/>
        <p:txBody>
          <a:bodyPr/>
          <a:lstStyle/>
          <a:p>
            <a:fld id="{C2183710-FD27-4477-88A8-A6C46BCA0A66}" type="datetime1">
              <a:rPr lang="en-US" smtClean="0"/>
              <a:pPr/>
              <a:t>4/26/2023</a:t>
            </a:fld>
            <a:endParaRPr lang="en-US"/>
          </a:p>
        </p:txBody>
      </p:sp>
      <p:sp>
        <p:nvSpPr>
          <p:cNvPr id="5" name="Footer Placeholder 4"/>
          <p:cNvSpPr>
            <a:spLocks noGrp="1"/>
          </p:cNvSpPr>
          <p:nvPr>
            <p:ph type="ftr" sz="quarter" idx="11"/>
          </p:nvPr>
        </p:nvSpPr>
        <p:spPr/>
        <p:txBody>
          <a:bodyPr/>
          <a:lstStyle/>
          <a:p>
            <a:r>
              <a:rPr lang="en-US" smtClean="0"/>
              <a:t>Department of CSE</a:t>
            </a:r>
            <a:endParaRPr lang="en-US"/>
          </a:p>
        </p:txBody>
      </p:sp>
      <p:sp>
        <p:nvSpPr>
          <p:cNvPr id="6" name="Slide Number Placeholder 5"/>
          <p:cNvSpPr>
            <a:spLocks noGrp="1"/>
          </p:cNvSpPr>
          <p:nvPr>
            <p:ph type="sldNum" sz="quarter" idx="12"/>
          </p:nvPr>
        </p:nvSpPr>
        <p:spPr/>
        <p:txBody>
          <a:bodyPr/>
          <a:lstStyle/>
          <a:p>
            <a:fld id="{891F06AE-6E0A-40F5-91BF-DC1A80B84273}" type="slidenum">
              <a:rPr lang="en-US" smtClean="0"/>
              <a:pPr/>
              <a:t>28</a:t>
            </a:fld>
            <a:endParaRPr lang="en-US"/>
          </a:p>
        </p:txBody>
      </p:sp>
    </p:spTree>
    <p:extLst>
      <p:ext uri="{BB962C8B-B14F-4D97-AF65-F5344CB8AC3E}">
        <p14:creationId xmlns:p14="http://schemas.microsoft.com/office/powerpoint/2010/main" val="1138886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[1] R. M. A. Ujjan, Z. Pervez, K. Dahal, A. K. Bashir, R. Mumtaz, and J. González, "Towards sFlow and adaptive polling sampling for deep learning based DDoS detection in SDN," Future Generation Computer Systems, vol. 111, pp. 763-779, 2020, doi: 10.1016/j.future.2019.10.015.</a:t>
            </a:r>
          </a:p>
          <a:p>
            <a:r>
              <a:rPr lang="en-US" dirty="0">
                <a:latin typeface="Times New Roman" panose="02020603050405020304" pitchFamily="18" charset="0"/>
                <a:cs typeface="Times New Roman" panose="02020603050405020304" pitchFamily="18" charset="0"/>
              </a:rPr>
              <a:t> [2] "Software Defined Networking Definition." https://www.opennetworking.org/sdn-definition/ (accessed March, 2, 2020).</a:t>
            </a:r>
          </a:p>
          <a:p>
            <a:r>
              <a:rPr lang="en-US" dirty="0">
                <a:latin typeface="Times New Roman" panose="02020603050405020304" pitchFamily="18" charset="0"/>
                <a:cs typeface="Times New Roman" panose="02020603050405020304" pitchFamily="18" charset="0"/>
              </a:rPr>
              <a:t> [3] S. Garg, K. Kaur, N. Kumar, and J. J. P. C. Rodrigues, "Hybrid Deep-Learning-Based Anomaly Detection Scheme for Suspicious Flow Detection in SDN: A Social Multimedia Perspective," IEEE Transactions on Multimedia, vol. 21, no. 3, pp. 566-578, 2019, doi: 10.1109/tmm.2019.2893549.</a:t>
            </a:r>
          </a:p>
          <a:p>
            <a:r>
              <a:rPr lang="en-US" dirty="0">
                <a:latin typeface="Times New Roman" panose="02020603050405020304" pitchFamily="18" charset="0"/>
                <a:cs typeface="Times New Roman" panose="02020603050405020304" pitchFamily="18" charset="0"/>
              </a:rPr>
              <a:t> [4] M. Nobakht, V. Sivaraman, and R. Boreli, "A Host-Based Intrusion Detection and Mitigation Framework for Smart Home IoT Using OpenFlow," presented at the 2016 11th International Conference on Availability, Reliability and Security (ARES), 2016.</a:t>
            </a:r>
          </a:p>
          <a:p>
            <a:r>
              <a:rPr lang="en-US" dirty="0">
                <a:latin typeface="Times New Roman" panose="02020603050405020304" pitchFamily="18" charset="0"/>
                <a:cs typeface="Times New Roman" panose="02020603050405020304" pitchFamily="18" charset="0"/>
              </a:rPr>
              <a:t> [5] M. S. Elsayed, N. Le-</a:t>
            </a:r>
            <a:r>
              <a:rPr lang="en-US" dirty="0" err="1">
                <a:latin typeface="Times New Roman" panose="02020603050405020304" pitchFamily="18" charset="0"/>
                <a:cs typeface="Times New Roman" panose="02020603050405020304" pitchFamily="18" charset="0"/>
              </a:rPr>
              <a:t>Khac</a:t>
            </a:r>
            <a:r>
              <a:rPr lang="en-US" dirty="0">
                <a:latin typeface="Times New Roman" panose="02020603050405020304" pitchFamily="18" charset="0"/>
                <a:cs typeface="Times New Roman" panose="02020603050405020304" pitchFamily="18" charset="0"/>
              </a:rPr>
              <a:t>, S. Dev, and A. D. Jurcut, "Machine Learning Techniques for Detecting Attacks in SDN," in 2019 IEEE 7th International Conference on Computer Science and Network Technology (ICCSNT), 19-20 Oct. 2019 2019, pp. 277-281, doi: 10.1109/ICCSNT47585.2019.8962519. </a:t>
            </a:r>
          </a:p>
        </p:txBody>
      </p:sp>
      <p:sp>
        <p:nvSpPr>
          <p:cNvPr id="4" name="Date Placeholder 3"/>
          <p:cNvSpPr>
            <a:spLocks noGrp="1"/>
          </p:cNvSpPr>
          <p:nvPr>
            <p:ph type="dt" sz="half" idx="10"/>
          </p:nvPr>
        </p:nvSpPr>
        <p:spPr/>
        <p:txBody>
          <a:bodyPr/>
          <a:lstStyle/>
          <a:p>
            <a:fld id="{2BB3F58A-D558-404B-ABA3-742E5D0B8335}" type="datetime1">
              <a:rPr lang="en-US" smtClean="0"/>
              <a:pPr/>
              <a:t>4/26/2023</a:t>
            </a:fld>
            <a:endParaRPr lang="en-US"/>
          </a:p>
        </p:txBody>
      </p:sp>
      <p:sp>
        <p:nvSpPr>
          <p:cNvPr id="5" name="Slide Number Placeholder 4"/>
          <p:cNvSpPr>
            <a:spLocks noGrp="1"/>
          </p:cNvSpPr>
          <p:nvPr>
            <p:ph type="sldNum" sz="quarter" idx="12"/>
          </p:nvPr>
        </p:nvSpPr>
        <p:spPr/>
        <p:txBody>
          <a:bodyPr/>
          <a:lstStyle/>
          <a:p>
            <a:fld id="{891F06AE-6E0A-40F5-91BF-DC1A80B84273}" type="slidenum">
              <a:rPr lang="en-US" smtClean="0"/>
              <a:pPr/>
              <a:t>29</a:t>
            </a:fld>
            <a:endParaRPr lang="en-US"/>
          </a:p>
        </p:txBody>
      </p:sp>
      <p:sp>
        <p:nvSpPr>
          <p:cNvPr id="6" name="Footer Placeholder 5"/>
          <p:cNvSpPr>
            <a:spLocks noGrp="1"/>
          </p:cNvSpPr>
          <p:nvPr>
            <p:ph type="ftr" sz="quarter" idx="11"/>
          </p:nvPr>
        </p:nvSpPr>
        <p:spPr/>
        <p:txBody>
          <a:bodyPr/>
          <a:lstStyle/>
          <a:p>
            <a:r>
              <a:rPr lang="en-US"/>
              <a:t>Department of CSE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2631057"/>
            <a:ext cx="10515600" cy="474452"/>
          </a:xfrm>
        </p:spPr>
        <p:txBody>
          <a:bodyPr>
            <a:noAutofit/>
          </a:bodyPr>
          <a:lstStyle/>
          <a:p>
            <a:pPr algn="ctr">
              <a:buNone/>
            </a:pPr>
            <a:r>
              <a:rPr lang="en-US" sz="8000" dirty="0">
                <a:latin typeface="Times New Roman" pitchFamily="18" charset="0"/>
                <a:cs typeface="Times New Roman" pitchFamily="18" charset="0"/>
              </a:rPr>
              <a:t>THANK YOU</a:t>
            </a:r>
          </a:p>
        </p:txBody>
      </p:sp>
      <p:sp>
        <p:nvSpPr>
          <p:cNvPr id="4" name="Date Placeholder 3"/>
          <p:cNvSpPr>
            <a:spLocks noGrp="1"/>
          </p:cNvSpPr>
          <p:nvPr>
            <p:ph type="dt" sz="half" idx="10"/>
          </p:nvPr>
        </p:nvSpPr>
        <p:spPr/>
        <p:txBody>
          <a:bodyPr/>
          <a:lstStyle/>
          <a:p>
            <a:fld id="{C2183710-FD27-4477-88A8-A6C46BCA0A66}" type="datetime1">
              <a:rPr lang="en-US" smtClean="0"/>
              <a:pPr/>
              <a:t>4/26/2023</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891F06AE-6E0A-40F5-91BF-DC1A80B84273}" type="slidenum">
              <a:rPr lang="en-US" smtClean="0"/>
              <a:pPr/>
              <a:t>30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523</TotalTime>
  <Words>1780</Words>
  <Application>Microsoft Office PowerPoint</Application>
  <PresentationFormat>Widescreen</PresentationFormat>
  <Paragraphs>231</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Times New Roman</vt:lpstr>
      <vt:lpstr>Office Theme</vt:lpstr>
      <vt:lpstr>DETECTION OF ATTACKS USING RFA  </vt:lpstr>
      <vt:lpstr>PRESENTATION OUTLINE</vt:lpstr>
      <vt:lpstr>INTRODUCTION</vt:lpstr>
      <vt:lpstr>ABSTRACT </vt:lpstr>
      <vt:lpstr>OBJECTIVE</vt:lpstr>
      <vt:lpstr>EXISTING SYSTEM </vt:lpstr>
      <vt:lpstr>PROBLEM STATEMENT</vt:lpstr>
      <vt:lpstr>PROPOSED SYSTEM </vt:lpstr>
      <vt:lpstr>ADVANTAGES</vt:lpstr>
      <vt:lpstr>LITERATURE REVIEW </vt:lpstr>
      <vt:lpstr>Con……….</vt:lpstr>
      <vt:lpstr>FLOW DIAGRAM</vt:lpstr>
      <vt:lpstr>SYSTEM ARCHITECTURE</vt:lpstr>
      <vt:lpstr>MODULES IMPLEMENTATION</vt:lpstr>
      <vt:lpstr>MODEL TRAINING</vt:lpstr>
      <vt:lpstr>PowerPoint Presentation</vt:lpstr>
      <vt:lpstr>TESTING MODEL</vt:lpstr>
      <vt:lpstr>PREDICTION</vt:lpstr>
      <vt:lpstr> GENETIC ALGORITHMS</vt:lpstr>
      <vt:lpstr>GENETIC ALGORITHM WORKFLOW</vt:lpstr>
      <vt:lpstr>APPLICATION SCREENSHOTS </vt:lpstr>
      <vt:lpstr>PowerPoint Presentation</vt:lpstr>
      <vt:lpstr>PowerPoint Presentation</vt:lpstr>
      <vt:lpstr>PowerPoint Presentation</vt:lpstr>
      <vt:lpstr>PowerPoint Presentation</vt:lpstr>
      <vt:lpstr>CODE</vt:lpstr>
      <vt:lpstr>PowerPoint Presentation</vt:lpstr>
      <vt:lpstr>CONCLUSION </vt:lpstr>
      <vt:lpstr>REFERENCES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intrusion detection in software defined network using deep learning</dc:title>
  <dc:creator>Lenovo</dc:creator>
  <cp:lastModifiedBy>Lenovo</cp:lastModifiedBy>
  <cp:revision>90</cp:revision>
  <dcterms:created xsi:type="dcterms:W3CDTF">2021-11-29T05:17:00Z</dcterms:created>
  <dcterms:modified xsi:type="dcterms:W3CDTF">2023-04-26T02:51:03Z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E789610B01A3445490DF126D7885752D</vt:lpwstr>
  </property>
  <property fmtid="{D5CDD505-2E9C-101B-9397-08002B2CF9AE}" pid="3" name="KSOProductBuildVer">
    <vt:lpwstr>1033-11.2.0.10307</vt:lpwstr>
  </property>
</Properties>
</file>